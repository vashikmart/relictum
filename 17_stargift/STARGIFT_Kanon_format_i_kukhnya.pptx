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0" y="0"/>
            <a:ext cx="9525" cy="6858000"/>
          </a:xfrm>
          <a:prstGeom prst="rect">
            <a:avLst/>
          </a:prstGeom>
          <a:solidFill>
            <a:srgbClr val="372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57975" y="2690366"/>
            <a:ext cx="723900" cy="9525"/>
          </a:xfrm>
          <a:prstGeom prst="rect">
            <a:avLst/>
          </a:prstGeom>
          <a:solidFill>
            <a:srgbClr val="624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" y="514369"/>
            <a:ext cx="1679972" cy="127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4350" y="2572494"/>
            <a:ext cx="5073700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ВНУТРЕННИЙ СТАНДАРТ · КАК МЫ СОБИРАЕМ ДЕКИ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2896344"/>
            <a:ext cx="5410200" cy="12361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567"/>
              </a:lnSpc>
            </a:pPr>
            <a:r>
              <a:rPr sz="43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Канон Stargift:</a:t>
            </a:r>
          </a:p>
          <a:p>
            <a:pPr algn="l">
              <a:lnSpc>
                <a:spcPts val="4567"/>
              </a:lnSpc>
            </a:pPr>
            <a:r>
              <a:rPr sz="43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формат и кухня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4246811"/>
            <a:ext cx="3676650" cy="12197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52"/>
              </a:lnSpc>
            </a:pPr>
            <a:r>
              <a:rPr sz="1420" b="0" i="0">
                <a:solidFill>
                  <a:srgbClr val="B8B2A6"/>
                </a:solidFill>
                <a:latin typeface="Inter"/>
                <a:latin typeface="Inter"/>
                <a:ea typeface="Inter"/>
                <a:cs typeface="Inter"/>
              </a:rPr>
              <a:t>Каждый разворот показан дважды: сначала слайд, каким его видит клиент, затем — исходное фото продавца, промпт или команда и результат.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4350" y="6191250"/>
            <a:ext cx="1323677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234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АВГУСТ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9875" y="1224409"/>
            <a:ext cx="828675" cy="1400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694"/>
              </a:lnSpc>
            </a:pPr>
            <a:r>
              <a:rPr sz="94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925" y="2909441"/>
            <a:ext cx="2628900" cy="15525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5"/>
              </a:lnSpc>
            </a:pPr>
            <a:r>
              <a:rPr sz="1500" b="0" i="0">
                <a:solidFill>
                  <a:srgbClr val="B8B2A6"/>
                </a:solidFill>
                <a:latin typeface="Inter"/>
                <a:latin typeface="Inter"/>
                <a:ea typeface="Inter"/>
                <a:cs typeface="Inter"/>
              </a:rPr>
              <a:t>способа получить чистый кадр: nano banana pro, геометрическое выравнивание, отбеливание фона и честные макро-фрагменты.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38925" y="4595366"/>
            <a:ext cx="2628900" cy="962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5"/>
              </a:lnSpc>
            </a:pPr>
            <a:r>
              <a:rPr sz="1500" b="0" i="0">
                <a:solidFill>
                  <a:srgbClr val="B8B2A6"/>
                </a:solidFill>
                <a:latin typeface="Inter"/>
                <a:latin typeface="Inter"/>
                <a:ea typeface="Inter"/>
                <a:cs typeface="Inter"/>
              </a:rPr>
              <a:t>Один промпт на все предметы. Ни одного перерисованного автографа.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0" y="2743498"/>
            <a:ext cx="19050" cy="695325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02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38900" y="1620441"/>
            <a:ext cx="2396579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ФОРМАТ · СЛАЙД ЛОТА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57950" y="1877616"/>
            <a:ext cx="5276850" cy="7801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72"/>
              </a:lnSpc>
            </a:pPr>
            <a:r>
              <a:rPr sz="248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Альбом Thriller с автографом Майкла Джексона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825" y="2714923"/>
            <a:ext cx="1790254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80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EPIC RECORDS · 1982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19875" y="2905423"/>
            <a:ext cx="5114925" cy="5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25"/>
              </a:lnSpc>
            </a:pPr>
            <a:r>
              <a:rPr sz="135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Самый продаваемый альбом в истории музыки. Подпись синим маркером по лаковому конверту первого пресса.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7950" y="3553123"/>
            <a:ext cx="5276850" cy="8579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2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Фото занимает ровно половину слайда, текст стоит на воздухе справа: название, контекст первым абзацем, цена золотом. Кегли — от 18 px, дека читается с телефона.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8900" y="4496842"/>
            <a:ext cx="2090291" cy="504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00"/>
              </a:lnSpc>
            </a:pPr>
            <a:r>
              <a:rPr sz="30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1 500 000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8900" y="5030242"/>
            <a:ext cx="888206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PSA/DNA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4350" y="742950"/>
            <a:ext cx="5476875" cy="9525"/>
          </a:xfrm>
          <a:prstGeom prst="rect">
            <a:avLst/>
          </a:prstGeom>
          <a:solidFill>
            <a:srgbClr val="32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350" y="4775895"/>
            <a:ext cx="5476875" cy="9525"/>
          </a:xfrm>
          <a:prstGeom prst="rect">
            <a:avLst/>
          </a:prstGeom>
          <a:solidFill>
            <a:srgbClr val="32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14350" y="742950"/>
            <a:ext cx="9525" cy="4042470"/>
          </a:xfrm>
          <a:prstGeom prst="rect">
            <a:avLst/>
          </a:prstGeom>
          <a:solidFill>
            <a:srgbClr val="32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81700" y="742950"/>
            <a:ext cx="9525" cy="4042470"/>
          </a:xfrm>
          <a:prstGeom prst="rect">
            <a:avLst/>
          </a:prstGeom>
          <a:solidFill>
            <a:srgbClr val="32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00775" y="742950"/>
            <a:ext cx="5476875" cy="9525"/>
          </a:xfrm>
          <a:prstGeom prst="rect">
            <a:avLst/>
          </a:prstGeom>
          <a:solidFill>
            <a:srgbClr val="32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00775" y="4775895"/>
            <a:ext cx="5476875" cy="9525"/>
          </a:xfrm>
          <a:prstGeom prst="rect">
            <a:avLst/>
          </a:prstGeom>
          <a:solidFill>
            <a:srgbClr val="32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00775" y="742950"/>
            <a:ext cx="9525" cy="4042470"/>
          </a:xfrm>
          <a:prstGeom prst="rect">
            <a:avLst/>
          </a:prstGeom>
          <a:solidFill>
            <a:srgbClr val="32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68125" y="742950"/>
            <a:ext cx="9525" cy="4042470"/>
          </a:xfrm>
          <a:prstGeom prst="rect">
            <a:avLst/>
          </a:prstGeom>
          <a:solidFill>
            <a:srgbClr val="32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4350" y="5200650"/>
            <a:ext cx="19050" cy="1371600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0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987" y="752475"/>
            <a:ext cx="3017453" cy="4023271"/>
          </a:xfrm>
          <a:prstGeom prst="rect">
            <a:avLst/>
          </a:prstGeom>
        </p:spPr>
      </p:pic>
      <p:pic>
        <p:nvPicPr>
          <p:cNvPr id="13" name="Picture 12" descr="m0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964" y="752475"/>
            <a:ext cx="5390497" cy="402327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6250" y="228600"/>
            <a:ext cx="4777978" cy="390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sz="22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Кухня: белая студия одним промптом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1722" y="371475"/>
            <a:ext cx="3806428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HIGGSFIELD · NANO BANANA PRO · 2K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250" y="4861620"/>
            <a:ext cx="3204121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900" b="0" i="0" spc="16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БЫЛО · </a:t>
            </a:r>
            <a:r>
              <a:rPr sz="1050" b="0" i="0">
                <a:solidFill>
                  <a:srgbClr val="8F8A80"/>
                </a:solidFill>
                <a:latin typeface="Inter"/>
                <a:latin typeface="Inter"/>
                <a:ea typeface="Inter"/>
                <a:cs typeface="Inter"/>
              </a:rPr>
              <a:t>фото продавца: стол, тень, завал, наклейка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62675" y="4861620"/>
            <a:ext cx="3229273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900" b="0" i="0" spc="16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СТАЛО · </a:t>
            </a:r>
            <a:r>
              <a:rPr sz="1050" b="0" i="0">
                <a:solidFill>
                  <a:srgbClr val="8F8A80"/>
                </a:solidFill>
                <a:latin typeface="Inter"/>
                <a:latin typeface="Inter"/>
                <a:ea typeface="Inter"/>
                <a:cs typeface="Inter"/>
              </a:rPr>
              <a:t>фронтально, белая студия, автограф 1-в-1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324475"/>
            <a:ext cx="10441186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ПРОМПТ — ОДИН И ТОТ ЖЕ ДЛЯ ЛЮБОГО ПРЕДМЕТА. ИМЁН И СЮЖЕТА В НЁМ НЕТ: МОДЕЛЬ МОЖЕТ ВЫДУМАТЬ ТОЛЬКО ТО, ЧТО УПОМЯНУТО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850" y="5514975"/>
            <a:ext cx="10820400" cy="962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44"/>
              </a:lnSpc>
            </a:pPr>
            <a:r>
              <a:rPr sz="1120" b="0" i="0">
                <a:solidFill>
                  <a:srgbClr val="D9D4C8"/>
                </a:solidFill>
                <a:latin typeface="ui-monospace"/>
                <a:latin typeface="ui-monospace"/>
                <a:ea typeface="ui-monospace"/>
                <a:cs typeface="ui-monospace"/>
              </a:rPr>
              <a:t>Put this on a clean white studio background and photograph it perfectly straight on, square to the camera: the item's edges parallel to the frame edges, no tilt, no rotation, no perspective, viewed flat from directly in front and centred. Beautiful studio photography with a soft shadow under the item. Do not change the item itself in any way. Keep every printed detail and the handwritten signature exactly as in the reference.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0" y="2873871"/>
            <a:ext cx="19050" cy="695325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05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38900" y="1750814"/>
            <a:ext cx="2396579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ФОРМАТ · СЛАЙД ЛОТА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57950" y="2007989"/>
            <a:ext cx="5276850" cy="7801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72"/>
              </a:lnSpc>
            </a:pPr>
            <a:r>
              <a:rPr sz="248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Программа Зала боксёрской славы, 1996 год, 22 автографа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825" y="2845296"/>
            <a:ext cx="2243286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80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КАНАСТОТА · 9 ИЮНЯ 1996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19875" y="3035796"/>
            <a:ext cx="5114925" cy="5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25"/>
              </a:lnSpc>
            </a:pPr>
            <a:r>
              <a:rPr sz="135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Плоский лот, весь смысл которого — подписи. Такому генерация противопоказана: ракурс исправлен геометрией, пиксели настоящие.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7950" y="3683496"/>
            <a:ext cx="5276850" cy="5973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2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Внешне слайд не отличается от соседнего — и не должен: клиент видит один стандарт подачи, каким бы путём ни был получен кадр.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8900" y="4366617"/>
            <a:ext cx="1804541" cy="504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00"/>
              </a:lnSpc>
            </a:pPr>
            <a:r>
              <a:rPr sz="30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700 000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8900" y="4900017"/>
            <a:ext cx="49143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JSA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4350" y="742950"/>
            <a:ext cx="5476875" cy="9525"/>
          </a:xfrm>
          <a:prstGeom prst="rect">
            <a:avLst/>
          </a:prstGeom>
          <a:solidFill>
            <a:srgbClr val="32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350" y="5218807"/>
            <a:ext cx="5476875" cy="9525"/>
          </a:xfrm>
          <a:prstGeom prst="rect">
            <a:avLst/>
          </a:prstGeom>
          <a:solidFill>
            <a:srgbClr val="32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14350" y="742950"/>
            <a:ext cx="9525" cy="4485382"/>
          </a:xfrm>
          <a:prstGeom prst="rect">
            <a:avLst/>
          </a:prstGeom>
          <a:solidFill>
            <a:srgbClr val="32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81700" y="742950"/>
            <a:ext cx="9525" cy="4485382"/>
          </a:xfrm>
          <a:prstGeom prst="rect">
            <a:avLst/>
          </a:prstGeom>
          <a:solidFill>
            <a:srgbClr val="32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00775" y="742950"/>
            <a:ext cx="5476875" cy="9525"/>
          </a:xfrm>
          <a:prstGeom prst="rect">
            <a:avLst/>
          </a:prstGeom>
          <a:solidFill>
            <a:srgbClr val="32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00775" y="5218807"/>
            <a:ext cx="5476875" cy="9525"/>
          </a:xfrm>
          <a:prstGeom prst="rect">
            <a:avLst/>
          </a:prstGeom>
          <a:solidFill>
            <a:srgbClr val="32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00775" y="742950"/>
            <a:ext cx="9525" cy="4485382"/>
          </a:xfrm>
          <a:prstGeom prst="rect">
            <a:avLst/>
          </a:prstGeom>
          <a:solidFill>
            <a:srgbClr val="32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68125" y="742950"/>
            <a:ext cx="9525" cy="4485382"/>
          </a:xfrm>
          <a:prstGeom prst="rect">
            <a:avLst/>
          </a:prstGeom>
          <a:solidFill>
            <a:srgbClr val="32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4350" y="5643562"/>
            <a:ext cx="19050" cy="928688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0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621" y="752475"/>
            <a:ext cx="4466332" cy="4466332"/>
          </a:xfrm>
          <a:prstGeom prst="rect">
            <a:avLst/>
          </a:prstGeom>
        </p:spPr>
      </p:pic>
      <p:pic>
        <p:nvPicPr>
          <p:cNvPr id="13" name="Picture 12" descr="m00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4920" y="752475"/>
            <a:ext cx="3548586" cy="446618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6250" y="228600"/>
            <a:ext cx="4892427" cy="390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sz="22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Кухня: ракурс правится без нейросети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36793" y="371475"/>
            <a:ext cx="4431357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TOOLS_FLATTEN.PY · ПЕРСПЕКТИВНЫЙ ВАРП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250" y="5304532"/>
            <a:ext cx="3320802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900" b="0" i="0" spc="16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БЫЛО · </a:t>
            </a:r>
            <a:r>
              <a:rPr sz="1050" b="0" i="0">
                <a:solidFill>
                  <a:srgbClr val="8F8A80"/>
                </a:solidFill>
                <a:latin typeface="Inter"/>
                <a:latin typeface="Inter"/>
                <a:ea typeface="Inter"/>
                <a:cs typeface="Inter"/>
              </a:rPr>
              <a:t>тёмная ткань продавца, наклон, перспектива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62675" y="5304532"/>
            <a:ext cx="3156496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900" b="0" i="0" spc="16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СТАЛО · </a:t>
            </a:r>
            <a:r>
              <a:rPr sz="1050" b="0" i="0">
                <a:solidFill>
                  <a:srgbClr val="8F8A80"/>
                </a:solidFill>
                <a:latin typeface="Inter"/>
                <a:latin typeface="Inter"/>
                <a:ea typeface="Inter"/>
                <a:cs typeface="Inter"/>
              </a:rPr>
              <a:t>те же пиксели, развёрнутые фронтально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767388"/>
            <a:ext cx="9702403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КОМАНДА ВМЕСТО ПРОМПТА: НАХОДИМ ЧЕТЫРЕ УГЛА ЛИСТА И РАЗВОРАЧИВАЕМ. ПОДПИСИ НЕ ПЕРЕРИСОВЫВАЮТСЯ В ПРИНЦИПЕ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850" y="5957888"/>
            <a:ext cx="10820400" cy="5191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44"/>
              </a:lnSpc>
            </a:pPr>
            <a:r>
              <a:rPr sz="1120" b="0" i="0">
                <a:solidFill>
                  <a:srgbClr val="D9D4C8"/>
                </a:solidFill>
                <a:latin typeface="ui-monospace"/>
                <a:latin typeface="ui-monospace"/>
                <a:ea typeface="ui-monospace"/>
                <a:cs typeface="ui-monospace"/>
              </a:rPr>
              <a:t>python3 tools_flatten.py --mode=bright --out=img_box/flat img_box/orig_hof96_22.jpg python3 tools_halfslide.py --out=img_box/half img_box/flat/orig_hof96_22.jpg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0" y="2873871"/>
            <a:ext cx="19050" cy="695325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08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38900" y="1750814"/>
            <a:ext cx="2396579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ФОРМАТ · СЛАЙД ЛОТА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57950" y="2007989"/>
            <a:ext cx="5276850" cy="7801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72"/>
              </a:lnSpc>
            </a:pPr>
            <a:r>
              <a:rPr sz="248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Пара перчаток Everlast: Тайсон, Льюис, Леонард, Хирнс, Дюран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825" y="2845296"/>
            <a:ext cx="235327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180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СОСТАРЕННАЯ КОЖА · ПАРА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19875" y="3035796"/>
            <a:ext cx="5114925" cy="5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25"/>
              </a:lnSpc>
            </a:pPr>
            <a:r>
              <a:rPr sz="1350" b="0" i="0">
                <a:solidFill>
                  <a:srgbClr val="3D3D3D"/>
                </a:solidFill>
                <a:latin typeface="Inter"/>
                <a:latin typeface="Inter"/>
                <a:ea typeface="Inter"/>
                <a:cs typeface="Inter"/>
              </a:rPr>
              <a:t>Объёмный предмет на сером фоне продавца. Вырезать нельзя — жёсткая маска рвёт кромку. Фон уведён в белый без границы.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7950" y="3683496"/>
            <a:ext cx="5276850" cy="5973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52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Трое из пяти подписавших — «Четыре короля» восьмидесятых. Пара на подставке — объект, а не сувенир.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8900" y="4366617"/>
            <a:ext cx="1804541" cy="504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00"/>
              </a:lnSpc>
            </a:pPr>
            <a:r>
              <a:rPr sz="300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550 000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8900" y="4900017"/>
            <a:ext cx="9144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40" b="0" i="0" spc="169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BECKETT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4350" y="742950"/>
            <a:ext cx="5476875" cy="9525"/>
          </a:xfrm>
          <a:prstGeom prst="rect">
            <a:avLst/>
          </a:prstGeom>
          <a:solidFill>
            <a:srgbClr val="32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350" y="5218807"/>
            <a:ext cx="5476875" cy="9525"/>
          </a:xfrm>
          <a:prstGeom prst="rect">
            <a:avLst/>
          </a:prstGeom>
          <a:solidFill>
            <a:srgbClr val="32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14350" y="742950"/>
            <a:ext cx="9525" cy="4485382"/>
          </a:xfrm>
          <a:prstGeom prst="rect">
            <a:avLst/>
          </a:prstGeom>
          <a:solidFill>
            <a:srgbClr val="32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81700" y="742950"/>
            <a:ext cx="9525" cy="4485382"/>
          </a:xfrm>
          <a:prstGeom prst="rect">
            <a:avLst/>
          </a:prstGeom>
          <a:solidFill>
            <a:srgbClr val="32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00775" y="742950"/>
            <a:ext cx="5476875" cy="9525"/>
          </a:xfrm>
          <a:prstGeom prst="rect">
            <a:avLst/>
          </a:prstGeom>
          <a:solidFill>
            <a:srgbClr val="32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00775" y="5218807"/>
            <a:ext cx="5476875" cy="9525"/>
          </a:xfrm>
          <a:prstGeom prst="rect">
            <a:avLst/>
          </a:prstGeom>
          <a:solidFill>
            <a:srgbClr val="32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00775" y="742950"/>
            <a:ext cx="9525" cy="4485382"/>
          </a:xfrm>
          <a:prstGeom prst="rect">
            <a:avLst/>
          </a:prstGeom>
          <a:solidFill>
            <a:srgbClr val="32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68125" y="742950"/>
            <a:ext cx="9525" cy="4485382"/>
          </a:xfrm>
          <a:prstGeom prst="rect">
            <a:avLst/>
          </a:prstGeom>
          <a:solidFill>
            <a:srgbClr val="32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4350" y="5643562"/>
            <a:ext cx="19050" cy="928688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0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532" y="752475"/>
            <a:ext cx="5378361" cy="4466183"/>
          </a:xfrm>
          <a:prstGeom prst="rect">
            <a:avLst/>
          </a:prstGeom>
        </p:spPr>
      </p:pic>
      <p:pic>
        <p:nvPicPr>
          <p:cNvPr id="13" name="Picture 12" descr="m0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717" y="752475"/>
            <a:ext cx="3970843" cy="446618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6250" y="228600"/>
            <a:ext cx="4289971" cy="390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sz="22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Кухня: фон в белый, границы нет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5696" y="371475"/>
            <a:ext cx="3682454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TOOLS_WHITEN.PY · БЕЗ ВЫРЕЗАНИЯ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250" y="5304532"/>
            <a:ext cx="2913162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900" b="0" i="0" spc="16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БЫЛО · </a:t>
            </a:r>
            <a:r>
              <a:rPr sz="1050" b="0" i="0">
                <a:solidFill>
                  <a:srgbClr val="8F8A80"/>
                </a:solidFill>
                <a:latin typeface="Inter"/>
                <a:latin typeface="Inter"/>
                <a:ea typeface="Inter"/>
                <a:cs typeface="Inter"/>
              </a:rPr>
              <a:t>перчатка Али лежит на столе у стены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62675" y="5304532"/>
            <a:ext cx="3267373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900" b="0" i="0" spc="16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СТАЛО · </a:t>
            </a:r>
            <a:r>
              <a:rPr sz="1050" b="0" i="0">
                <a:solidFill>
                  <a:srgbClr val="8F8A80"/>
                </a:solidFill>
                <a:latin typeface="Inter"/>
                <a:latin typeface="Inter"/>
                <a:ea typeface="Inter"/>
                <a:cs typeface="Inter"/>
              </a:rPr>
              <a:t>стоит, как выставляют; фон чистый белый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767388"/>
            <a:ext cx="9957941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ФОН ОПОЗНАЁТСЯ КАК СВЕТЛОЕ И БЕСЦВЕТНОЕ И ПЛАВНО УВОДИТСЯ В БЕЛЫЙ; --ROT СТАВИТ ПРЕДМЕТ ТАК, КАК ЕГО ВЫСТАВЛЯЮТ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850" y="5957888"/>
            <a:ext cx="10820400" cy="5191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44"/>
              </a:lnSpc>
            </a:pPr>
            <a:r>
              <a:rPr sz="1120" b="0" i="0">
                <a:solidFill>
                  <a:srgbClr val="D9D4C8"/>
                </a:solidFill>
                <a:latin typeface="ui-monospace"/>
                <a:latin typeface="ui-monospace"/>
                <a:ea typeface="ui-monospace"/>
                <a:cs typeface="ui-monospace"/>
              </a:rPr>
              <a:t>python3 tools_whiten.py --rot=90 --out=img_box/wht img_box/orig_glove_ali.jpg python3 tools_halfslide.py --out=img_box/half img_box/wht/orig_glove_ali.jpg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105" y="811411"/>
            <a:ext cx="5354842" cy="5055840"/>
          </a:xfrm>
          <a:prstGeom prst="rect">
            <a:avLst/>
          </a:prstGeom>
        </p:spPr>
      </p:pic>
      <p:pic>
        <p:nvPicPr>
          <p:cNvPr id="4" name="Picture 3" descr="m01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7905" y="811411"/>
            <a:ext cx="5354842" cy="505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4350" y="257175"/>
            <a:ext cx="2375743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40"/>
              </a:lnSpc>
            </a:pPr>
            <a:r>
              <a:rPr sz="24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Подписи крупно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1436" y="419100"/>
            <a:ext cx="3198614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ФОРМАТ · ВТОРОЙ СЛАЙД ЛОТА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4350" y="6048375"/>
            <a:ext cx="7173516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25"/>
              </a:lnSpc>
            </a:pPr>
            <a:r>
              <a:rPr sz="135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Арчи Мур · Флойд Паттерсон · Кармен Базилио · Карлос Ортис · Боб Фостер · Кристи Мартин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4350" y="6381750"/>
            <a:ext cx="5919043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 i="0">
                <a:solidFill>
                  <a:srgbClr val="8D8880"/>
                </a:solidFill>
                <a:latin typeface="Inter"/>
                <a:latin typeface="Inter"/>
                <a:ea typeface="Inter"/>
                <a:cs typeface="Inter"/>
              </a:rPr>
              <a:t>Когда у лота одно фото объявления, вторые ракурсы не выдумываются — режутся из того же кадра.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4350" y="742950"/>
            <a:ext cx="5476875" cy="9525"/>
          </a:xfrm>
          <a:prstGeom prst="rect">
            <a:avLst/>
          </a:prstGeom>
          <a:solidFill>
            <a:srgbClr val="32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4350" y="5218807"/>
            <a:ext cx="5476875" cy="9525"/>
          </a:xfrm>
          <a:prstGeom prst="rect">
            <a:avLst/>
          </a:prstGeom>
          <a:solidFill>
            <a:srgbClr val="32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14350" y="742950"/>
            <a:ext cx="9525" cy="4485382"/>
          </a:xfrm>
          <a:prstGeom prst="rect">
            <a:avLst/>
          </a:prstGeom>
          <a:solidFill>
            <a:srgbClr val="32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81700" y="742950"/>
            <a:ext cx="9525" cy="4485382"/>
          </a:xfrm>
          <a:prstGeom prst="rect">
            <a:avLst/>
          </a:prstGeom>
          <a:solidFill>
            <a:srgbClr val="32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00775" y="742950"/>
            <a:ext cx="5476875" cy="9525"/>
          </a:xfrm>
          <a:prstGeom prst="rect">
            <a:avLst/>
          </a:prstGeom>
          <a:solidFill>
            <a:srgbClr val="32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00775" y="5218807"/>
            <a:ext cx="5476875" cy="9525"/>
          </a:xfrm>
          <a:prstGeom prst="rect">
            <a:avLst/>
          </a:prstGeom>
          <a:solidFill>
            <a:srgbClr val="32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00775" y="742950"/>
            <a:ext cx="9525" cy="4485382"/>
          </a:xfrm>
          <a:prstGeom prst="rect">
            <a:avLst/>
          </a:prstGeom>
          <a:solidFill>
            <a:srgbClr val="32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68125" y="742950"/>
            <a:ext cx="9525" cy="4485382"/>
          </a:xfrm>
          <a:prstGeom prst="rect">
            <a:avLst/>
          </a:prstGeom>
          <a:solidFill>
            <a:srgbClr val="32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4350" y="5643562"/>
            <a:ext cx="19050" cy="928688"/>
          </a:xfrm>
          <a:prstGeom prst="rect">
            <a:avLst/>
          </a:prstGeom>
          <a:solidFill>
            <a:srgbClr val="A98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0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621" y="752475"/>
            <a:ext cx="4466332" cy="4466332"/>
          </a:xfrm>
          <a:prstGeom prst="rect">
            <a:avLst/>
          </a:prstGeom>
        </p:spPr>
      </p:pic>
      <p:pic>
        <p:nvPicPr>
          <p:cNvPr id="13" name="Picture 12" descr="m01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056" y="752475"/>
            <a:ext cx="4730312" cy="446618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6250" y="228600"/>
            <a:ext cx="3460700" cy="390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sz="22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Кухня: макро без выдумки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6313" y="371475"/>
            <a:ext cx="5411837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TOOLS_BOX_DETAILS.PY · ФРАГМЕНТЫ ТОГО ЖЕ ЛИСТА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250" y="5304532"/>
            <a:ext cx="2707332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900" b="0" i="0" spc="16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БЫЛО · </a:t>
            </a:r>
            <a:r>
              <a:rPr sz="1050" b="0" i="0">
                <a:solidFill>
                  <a:srgbClr val="8F8A80"/>
                </a:solidFill>
                <a:latin typeface="Inter"/>
                <a:latin typeface="Inter"/>
                <a:ea typeface="Inter"/>
                <a:cs typeface="Inter"/>
              </a:rPr>
              <a:t>один кадр объявления на весь лот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62675" y="5304532"/>
            <a:ext cx="3379143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900" b="0" i="0" spc="16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СТАЛО · </a:t>
            </a:r>
            <a:r>
              <a:rPr sz="1050" b="0" i="0">
                <a:solidFill>
                  <a:srgbClr val="8F8A80"/>
                </a:solidFill>
                <a:latin typeface="Inter"/>
                <a:latin typeface="Inter"/>
                <a:ea typeface="Inter"/>
                <a:cs typeface="Inter"/>
              </a:rPr>
              <a:t>фрагмент 1:1 под пропорцию ячейки слайда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767388"/>
            <a:ext cx="8452693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ЦЕНТР И ШИРИНА ФРАГМЕНТА ЗАДАЮТСЯ В ДОЛЯХ ПРЕДМЕТА; ГРАНИЦЫ ПРЕДМЕТА ИНСТРУМЕНТ НАХОДИТ САМ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850" y="5957888"/>
            <a:ext cx="10820400" cy="5191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44"/>
              </a:lnSpc>
            </a:pPr>
            <a:r>
              <a:rPr sz="1120" b="0" i="0">
                <a:solidFill>
                  <a:srgbClr val="D9D4C8"/>
                </a:solidFill>
                <a:latin typeface="ui-monospace"/>
                <a:latin typeface="ui-monospace"/>
                <a:ea typeface="ui-monospace"/>
                <a:cs typeface="ui-monospace"/>
              </a:rPr>
              <a:t>SPEC = {"hof96_22": [(0.31, 0.22, 0.62), (0.69, 0.79, 0.62)]} # (cx, cy, ширина) python3 tools_box_details.py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2450" y="371475"/>
            <a:ext cx="2633216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31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ФОРМАТ · ТЕКСТЫ ЛОТОВ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2450" y="600075"/>
            <a:ext cx="6080820" cy="504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80"/>
              </a:lnSpc>
            </a:pPr>
            <a:r>
              <a:rPr sz="300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Из строки выгрузки — в голос дома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2450" y="2728466"/>
            <a:ext cx="1702296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900" b="0" i="0" spc="16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БЫЛО · СТРОКА 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974181"/>
            <a:ext cx="4764584" cy="8075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i="0">
                <a:solidFill>
                  <a:srgbClr val="8F8A80"/>
                </a:solidFill>
                <a:latin typeface="ui-monospace"/>
                <a:latin typeface="ui-monospace"/>
                <a:ea typeface="ui-monospace"/>
                <a:cs typeface="ui-monospace"/>
              </a:rPr>
              <a:t>Boxing Greats Multi Signed Autographed Robe 51 Sigs Hearns Lewis BAS AC49467. Международная сертификация подлинности: Beckett/BAS.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78984" y="2728466"/>
            <a:ext cx="1904702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900" b="0" i="0" spc="162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СТАЛО · ТЕКСТ В ДЕКЕ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98034" y="2974181"/>
            <a:ext cx="5941516" cy="14781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9"/>
              </a:lnSpc>
            </a:pPr>
            <a:r>
              <a:rPr sz="1420" b="0" i="0">
                <a:solidFill>
                  <a:srgbClr val="D9D4C8"/>
                </a:solidFill>
                <a:latin typeface="Inter"/>
                <a:latin typeface="Inter"/>
                <a:ea typeface="Inter"/>
                <a:cs typeface="Inter"/>
              </a:rPr>
              <a:t>Пятьдесят один росчерк серебром по синему атласу. Среди подписавших — Томас Хирнс и Леннокс Льюис. Предмет читается с другого конца комнаты, а масштаб понятен сразу: столько имён на одной вещи случайно не собирается. Для большой стены — кабинет, клубная комната, лестничный пролёт.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98034" y="4509492"/>
            <a:ext cx="5941516" cy="5191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44"/>
              </a:lnSpc>
            </a:pPr>
            <a:r>
              <a:rPr sz="1120" b="0" i="0">
                <a:solidFill>
                  <a:srgbClr val="8F8A80"/>
                </a:solidFill>
                <a:latin typeface="Inter"/>
                <a:latin typeface="Inter"/>
                <a:ea typeface="Inter"/>
                <a:cs typeface="Inter"/>
              </a:rPr>
              <a:t>Формула: факт → в чём особенность → кому подойдёт. Слова «подлинность» нет ни в одном тексте; сертификатор — мелкой строкой, только Beckett · JSA · PSA/DNA.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15050"/>
            <a:ext cx="12192000" cy="9525"/>
          </a:xfrm>
          <a:prstGeom prst="rect">
            <a:avLst/>
          </a:prstGeom>
          <a:solidFill>
            <a:srgbClr val="3A3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466904"/>
            <a:ext cx="1504355" cy="11428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2876550"/>
            <a:ext cx="8439150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50"/>
              </a:lnSpc>
            </a:pPr>
            <a:r>
              <a:rPr sz="300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Пять правил, которые держат всё: одно фото — один слайд; фото лота не кропать; кегли не уменьшать; про подлинность не писать; автограф не перерисовывать.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0550" y="6324600"/>
            <a:ext cx="1331119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234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STARGIFT.RU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1638" y="6324600"/>
            <a:ext cx="2932212" cy="219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75"/>
              </a:lnSpc>
            </a:pPr>
            <a:r>
              <a:rPr sz="980" b="0" i="0" spc="234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PHOTO_RULES.MD · CLAUDE.MD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