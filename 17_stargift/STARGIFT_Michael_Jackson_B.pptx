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576" y="0"/>
            <a:ext cx="6156424" cy="6858000"/>
          </a:xfrm>
          <a:prstGeom prst="rect">
            <a:avLst/>
          </a:prstGeom>
        </p:spPr>
      </p:pic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33444"/>
            <a:ext cx="1755130" cy="1333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577108"/>
            <a:ext cx="332229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929533"/>
            <a:ext cx="5102126" cy="13710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</a:t>
            </a:r>
          </a:p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433888"/>
            <a:ext cx="4199037" cy="107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8"/>
              </a:lnSpc>
            </a:pPr>
            <a:r>
              <a:rPr sz="12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Девять подписанных пластинок — от первого сингла Jackson 5 до «Bad» — и пять фотографий. Двадцать лет карьеры, собранные по конвертам, которые он держал в руках.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62675"/>
            <a:ext cx="2893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14 ПРЕДМЕТОВ · АВГУСТ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2392" y="6588472"/>
            <a:ext cx="356770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7305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68296" y="1749028"/>
            <a:ext cx="219030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1969–1971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3075" y="2101453"/>
            <a:ext cx="3946475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Пятеро братьев</a:t>
            </a:r>
          </a:p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из Гэри, Индиана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711178"/>
            <a:ext cx="5234434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Осенью 1969 года Motown выпустил сингл группы, которую ещё никто не знал. Через три месяца он стоял на первой строчке, а солисту было одиннадцать лет.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001" y="6588472"/>
            <a:ext cx="379109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Bernie Ilson, Inc. · Wikimedia Commons · public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4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234529"/>
            <a:ext cx="240491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1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463129"/>
            <a:ext cx="1902916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1969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1901279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«Diana Ross Presents The Jackson 5»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763292"/>
            <a:ext cx="5736282" cy="202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Дебютный альбом Jackson 5. Имя Дайаны Росс на обложке было рекламным ходом лейбла: группу она не открывала, но её имя открывало радиостанции. Сингл с этой пластинки встал на первое место Billboard в январе 1970-го. Конверт в состоянии, редком для тиража 1969 года: углы целы, картон не расслоился. Росчерк идёт наискось через всю обложку — так Джексон подписывал в ранние годы, размашисто и во всю площадь.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863852"/>
            <a:ext cx="1597223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397252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5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234529"/>
            <a:ext cx="242991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463129"/>
            <a:ext cx="1854547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1971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1901279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763292"/>
            <a:ext cx="5736282" cy="202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Четвёртый альбом Jackson 5, вышедший на пике их первой славы. Экземпляр из первого тиража: разворотный конверт и оригинальные синие лейблы Motown на самом виниле. Автографы Jackson 5 того периода встречаются реже сольных: группа подписывала мало и почти всегда на бегу. Здесь росчерки идут по светлой части обложки и читаются все до одного.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863852"/>
            <a:ext cx="178608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397252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97" y="847725"/>
            <a:ext cx="1878806" cy="1905000"/>
          </a:xfrm>
          <a:prstGeom prst="rect">
            <a:avLst/>
          </a:prstGeom>
        </p:spPr>
      </p:pic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30" y="847725"/>
            <a:ext cx="2958992" cy="1904851"/>
          </a:xfrm>
          <a:prstGeom prst="rect">
            <a:avLst/>
          </a:prstGeom>
        </p:spPr>
      </p:pic>
      <p:pic>
        <p:nvPicPr>
          <p:cNvPr id="5" name="Picture 4" descr="m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100" y="847725"/>
            <a:ext cx="1989401" cy="1904851"/>
          </a:xfrm>
          <a:prstGeom prst="rect">
            <a:avLst/>
          </a:prstGeom>
        </p:spPr>
      </p:pic>
      <p:pic>
        <p:nvPicPr>
          <p:cNvPr id="6" name="Picture 5" descr="m0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736" y="3312914"/>
            <a:ext cx="1938780" cy="1904851"/>
          </a:xfrm>
          <a:prstGeom prst="rect">
            <a:avLst/>
          </a:prstGeom>
        </p:spPr>
      </p:pic>
      <p:pic>
        <p:nvPicPr>
          <p:cNvPr id="7" name="Picture 6" descr="m0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262" y="3312914"/>
            <a:ext cx="1895475" cy="1905000"/>
          </a:xfrm>
          <a:prstGeom prst="rect">
            <a:avLst/>
          </a:prstGeom>
        </p:spPr>
      </p:pic>
      <p:pic>
        <p:nvPicPr>
          <p:cNvPr id="8" name="Picture 7" descr="m0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899" y="3312914"/>
            <a:ext cx="2539802" cy="190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66700"/>
            <a:ext cx="4998988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· разворот и винил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1083" y="428625"/>
            <a:ext cx="242991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" y="5606653"/>
            <a:ext cx="10764738" cy="13084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4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Разворотный конверт с росчерками, внутренний разворот с фотографиями группы, оригинальные синие лейблы Motown и сам винил. Первый пресс отличается именно лейблом: у поздних переизданий он другого цвета и с другим шрифтом.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2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373684"/>
            <a:ext cx="243125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3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602284"/>
            <a:ext cx="1874639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1972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2040434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«Got To Be There» — конверт сольного дебюта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902446"/>
            <a:ext cx="5736282" cy="174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Сольный дебют — Майклу тринадцать. Motown выпустил альбом, не выводя его из состава Jackson 5. С этой обложки начинается его отдельная биография. Конверт сольного дебюта с автографом. Точка, с которой начинается всё остальное в этой подборке: до «Got To Be There» Майкл Джексон был солистом группы, после — самостоятельным именем на обложке.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724698"/>
            <a:ext cx="180647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258098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3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095375"/>
            <a:ext cx="24348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323975"/>
            <a:ext cx="1906339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1984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1762125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624138"/>
            <a:ext cx="5736282" cy="23026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Записи 1973 года пролежали в архиве лейбла одиннадцать лет. В 1984-м, на волне успеха «Thriller» у другого лейбла, их достали, добавили современную аранжировку и выпустили как новый альбом — без участия артиста. Конверт с автографом. Экземпляр полный: с бонусным цветным постером, который вкладывался в первый тираж и обычно теряется первым. Обложка — ночной концертный кадр, редкий для его пластинок сюжет.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5003006"/>
            <a:ext cx="178177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53640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59" y="847725"/>
            <a:ext cx="1869281" cy="1905000"/>
          </a:xfrm>
          <a:prstGeom prst="rect">
            <a:avLst/>
          </a:prstGeom>
        </p:spPr>
      </p:pic>
      <p:pic>
        <p:nvPicPr>
          <p:cNvPr id="4" name="Picture 3" descr="m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631" y="847725"/>
            <a:ext cx="1328738" cy="1905000"/>
          </a:xfrm>
          <a:prstGeom prst="rect">
            <a:avLst/>
          </a:prstGeom>
        </p:spPr>
      </p:pic>
      <p:pic>
        <p:nvPicPr>
          <p:cNvPr id="5" name="Picture 4" descr="m0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863" y="847725"/>
            <a:ext cx="1943726" cy="1904851"/>
          </a:xfrm>
          <a:prstGeom prst="rect">
            <a:avLst/>
          </a:prstGeom>
        </p:spPr>
      </p:pic>
      <p:pic>
        <p:nvPicPr>
          <p:cNvPr id="6" name="Picture 5" descr="m0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169" y="3442097"/>
            <a:ext cx="1262062" cy="1905000"/>
          </a:xfrm>
          <a:prstGeom prst="rect">
            <a:avLst/>
          </a:prstGeom>
        </p:spPr>
      </p:pic>
      <p:pic>
        <p:nvPicPr>
          <p:cNvPr id="7" name="Picture 6" descr="m01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625" y="3442097"/>
            <a:ext cx="1428750" cy="1905000"/>
          </a:xfrm>
          <a:prstGeom prst="rect">
            <a:avLst/>
          </a:prstGeom>
        </p:spPr>
      </p:pic>
      <p:pic>
        <p:nvPicPr>
          <p:cNvPr id="8" name="Picture 7" descr="m01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425" y="3442097"/>
            <a:ext cx="142875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66700"/>
            <a:ext cx="5034111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· комплект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6172" y="428625"/>
            <a:ext cx="24348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" y="5865019"/>
            <a:ext cx="10764738" cy="1050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4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 с автографом, оборот с указанием на вложенный постер, внутренний конверт со списком композиций и сам винил. Сохранность конверта для тиража 1984 года выше средней.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7305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38879" y="1749028"/>
            <a:ext cx="181972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1979–1987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377" y="2101453"/>
            <a:ext cx="3337173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Куинси Джонс</a:t>
            </a:r>
          </a:p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три альбома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711178"/>
            <a:ext cx="5234434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Уйдя с Motown, Джексон записал с продюсером Куинси Джонсом три пластинки подряд. Каждая следующая продавалась лучше предыдущей — случай, которого в поп-музыке больше не было.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2392" y="6588472"/>
            <a:ext cx="356770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1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419076"/>
            <a:ext cx="2428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5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647676"/>
            <a:ext cx="1429345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1979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0418" y="2066776"/>
            <a:ext cx="5461695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«Off The Wall»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578745"/>
            <a:ext cx="5736282" cy="202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Первая совместная работа с Куинси Джонсом. Четыре сингла с альбома вошли в первую десятку Billboard — до этого ни один сольный исполнитель такого не добивался. Конверт с автографом — самый дорогой предмет подборки. Обложка снята в смокинге у кирпичной стены: образ, который Джексон потом повторял на сцене годами. Росчерк лежит по светлому полю и читается целиком.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679305"/>
            <a:ext cx="185023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212705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2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234529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463129"/>
            <a:ext cx="1428601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1982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1901279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ранний тираж QE 38112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763292"/>
            <a:ext cx="5736282" cy="202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в истории звукозаписи. Экземпляр из раннего тиража: каталожный номер QE 38112, то есть пластинка отпечатана в первые месяцы после выхода, ещё до того, как продажи стали рекордными. Конверт «Thriller» раннего тиража с автографом. Белый костюм на чёрном фоне — обложка, которую узнают без подписи в любой стране. Автограф поставлен по светлому пиджаку и не спорит с изображением.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863852"/>
            <a:ext cx="182299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397252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81" y="847725"/>
            <a:ext cx="2357438" cy="3143250"/>
          </a:xfrm>
          <a:prstGeom prst="rect">
            <a:avLst/>
          </a:prstGeom>
        </p:spPr>
      </p:pic>
      <p:pic>
        <p:nvPicPr>
          <p:cNvPr id="4" name="Picture 3" descr="m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81" y="847725"/>
            <a:ext cx="2357438" cy="3143250"/>
          </a:xfrm>
          <a:prstGeom prst="rect">
            <a:avLst/>
          </a:prstGeom>
        </p:spPr>
      </p:pic>
      <p:pic>
        <p:nvPicPr>
          <p:cNvPr id="5" name="Picture 4" descr="m0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81" y="847725"/>
            <a:ext cx="2357438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66700"/>
            <a:ext cx="5524351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· конверт и внутренний разворот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9446" y="428625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9050" y="5865019"/>
            <a:ext cx="10764738" cy="1050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4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 с автографом, внутренний разворот с текстами песен и сам винил. Ранний пресс узнаётся по каталожному номеру на этикетке.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98518" y="4200227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6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0418" y="2117824"/>
            <a:ext cx="302448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ПЛАСТИНКА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0418" y="2365474"/>
            <a:ext cx="5805934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Раскрывающаяся рама: конверт и сам диск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877443"/>
            <a:ext cx="5736282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Две квадратные панели на латунных петлях, бордовый бархат внутри. Закрытой рама показывает конверт, открытой — конверт и винил в глубокой нише. Формат дома для пластинки, у которой хочется показать обе части.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0918" y="4181177"/>
            <a:ext cx="5564832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Бархат подбираем под палитру конверта: бордовый, тёмно-синий или бирюзовый.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98518" y="4200227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7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0418" y="2117824"/>
            <a:ext cx="302448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ПЛАСТИНКА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0418" y="2365474"/>
            <a:ext cx="4798814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Закрытый квадрат: только конверт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877443"/>
            <a:ext cx="5736282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Тот же экземпляр в простой подаче — одна квадратная рама, бордовое бархатное паспарту, тонкая золотая линия и латунная табличка внизу. Вешается как картина и занимает вдвое меньше стены.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0918" y="4181177"/>
            <a:ext cx="5564832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Выбор между диптихом и квадратом — вопрос места и того, подписан ли сам винил.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8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910828"/>
            <a:ext cx="242426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7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139428"/>
            <a:ext cx="2135088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1982 · Epic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1577578"/>
            <a:ext cx="5736282" cy="1183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808684"/>
            <a:ext cx="5736282" cy="23026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Японское издание с оби-полосой — узкой бумажной лентой на корешке, которую печатали отдельно и почти всегда выбрасывали при вскрытии. Инструментальная версия выпускалась только для японского рынка. Оби-полоса сохранена целиком, с иероглифами и ценой в иенах — по ней японский экземпляр отличают от европейского с первого взгляда. Автограф поставлен по светлому полю обложки и не перекрывает лицо.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5187553"/>
            <a:ext cx="176450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720953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9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234529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8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463129"/>
            <a:ext cx="1436191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1987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1901279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конверт с именным посвящением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763292"/>
            <a:ext cx="5736282" cy="202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Третья и последняя пластинка, сделанная с Куинси Джонсом. Пять синглов с одного альбома поднялись на первое место Billboard — до «Bad» этого не удавалось никому. Конверт с автографом и именным посвящением — Джексон подписал его конкретному человеку, надписав имя от руки. Такие экземпляры ценятся отдельно: они доказывают, что подпись поставлена вживую, а не на стопке конвертов у стола промоутера.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863852"/>
            <a:ext cx="182775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397252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0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558230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9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786830"/>
            <a:ext cx="1436191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1987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0418" y="2205930"/>
            <a:ext cx="5013573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промо-тираж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717899"/>
            <a:ext cx="5736282" cy="174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Промо-тираж печатался ограниченным числом и рассылался на радио до официального выхода. В продажу такие экземпляры не поступали, поэтому уцелевших мало. Промо-экземпляр узнаётся по обороту: вместо торгового оформления там служебная разметка для радиостанции. Автограф крупный, поставлен по белому полю рядом с логотипом.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540151"/>
            <a:ext cx="183207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073551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30547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77314" y="1581448"/>
            <a:ext cx="148128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ФОТОГРАФИИ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02328" y="1933873"/>
            <a:ext cx="2537222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Белый дом,</a:t>
            </a:r>
          </a:p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мая 1984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543598"/>
            <a:ext cx="5234434" cy="17520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Рейган вручает Джексону благодарность за то, что тот отдал «Beat It» для кампании против пьяного вождения. Год «Thriller» — и единственный визит поп-музыканта в Розовый сад в таком качестве.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3009" y="6588472"/>
            <a:ext cx="482709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Ronald Reagan Presidential Library · Wikimedia Commons · public domain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2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373684"/>
            <a:ext cx="265077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10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602284"/>
            <a:ext cx="3086844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1983 · эпоха «Billie Jean»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2040434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эпохи «Billie Jean» с автографом, 41×51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902446"/>
            <a:ext cx="5736282" cy="174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Год после выхода «Thriller»: сингл «Billie Jean» держится в верхней строчке, а лунная походка на юбилейном концерте Motown только что превратила Джексона в главную фигуру десятилетия. Крупноформатный кадр эпохи «Billie Jean» с автографом. Формат 41×51 см — самый большой в подборке, рассчитанный на то, чтобы висеть отдельно, а не в ряду.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724698"/>
            <a:ext cx="1775222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258098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3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512838"/>
            <a:ext cx="262220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11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741438"/>
            <a:ext cx="1824633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1980-е · сцена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2179588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3041600"/>
            <a:ext cx="5736282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Расшитый сценический костюм — часть образа, который Джексон выстраивал сам: военная выправка, блеск, узнаваемый силуэт с последнего ряда зала. Сценический кадр в расшитом костюме с автографом. Небольшой формат, плотная композиция: лицо, костюм и росчерк умещаются в одном кадре без пустот.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585543"/>
            <a:ext cx="180201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118943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4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373684"/>
            <a:ext cx="264720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12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602284"/>
            <a:ext cx="95250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1990-е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2040434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Цветная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902446"/>
            <a:ext cx="5736282" cy="174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периода, когда Джексон уже не выступал регулярно, но оставался самым узнаваемым лицом в мире. Чёрная куртка с шевронами — его поздний сценический образ. Цветной портрет в чёрной куртке с шевронами — образ конца восьмидесятых. Автограф серебряным маркером по тёмному полю, читается на просвет.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724698"/>
            <a:ext cx="178608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258098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5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512838"/>
            <a:ext cx="264854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13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741438"/>
            <a:ext cx="3871764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1987–1988 · «Smooth Criminal»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2179588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белой шляпе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3041600"/>
            <a:ext cx="5736282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Белая шляпа, синий свет и наклон корпуса — самая копируемая поза в истории поп-музыки, снятая на съёмках «Moonwalker». Кадр в белой шляпе и синем сценическом свете — узнаваемая поза из «Smooth Criminal». Один из тех снимков, где герой опознаётся по силуэту, даже если закрыть лицо.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585543"/>
            <a:ext cx="183177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118943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98518" y="4186535"/>
            <a:ext cx="19050" cy="250924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6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0418" y="2382441"/>
            <a:ext cx="313819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ФОТОГРАФИЯ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0418" y="2630091"/>
            <a:ext cx="5337423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Тёмная рама, синее замшевое паспарту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3142059"/>
            <a:ext cx="5736282" cy="9111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Под холодный кадр берём синее паспарту и тёмную раму: рамка не спорит со сценическим светом, а золотая линия по краю окна отделяет снимок от поля. Латунная табличка с именем внизу.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1868" y="4196060"/>
            <a:ext cx="555054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Цвет паспарту всегда берём у самой фотографии, а не по каталогу.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98518" y="4061073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7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0418" y="2256979"/>
            <a:ext cx="313819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ФОТОГРАФИЯ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0418" y="2504629"/>
            <a:ext cx="4647456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Кованое золото, бордовый бархат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3016597"/>
            <a:ext cx="5736282" cy="9111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Тёплый кадр требует тёплой рамы: кованое золото и бордовый бархат — классический регистр дома для портретов. Тот же снимок в тёмной раме выглядел бы холоднее, чем он есть.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0918" y="4042023"/>
            <a:ext cx="5564832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Две фотографии рядом на одной стене оформляем в одном материале рамы.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8.jpg"/>
          <p:cNvPicPr>
            <a:picLocks noChangeAspect="1"/>
          </p:cNvPicPr>
          <p:nvPr/>
        </p:nvPicPr>
        <p:blipFill>
          <a:blip r:embed="rId2"/>
          <a:srcRect l="2831" r="2831"/>
          <a:stretch>
            <a:fillRect/>
          </a:stretch>
        </p:blipFill>
        <p:spPr>
          <a:xfrm>
            <a:off x="0" y="0"/>
            <a:ext cx="575086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60418" y="1373684"/>
            <a:ext cx="265211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14 ИЗ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0418" y="1602284"/>
            <a:ext cx="1393627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2250" b="0" i="0" spc="22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9468" y="2040434"/>
            <a:ext cx="5736282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 на отдельном листе в капсуле, 23×9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9468" y="2902446"/>
            <a:ext cx="5736282" cy="174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Отдельный лист с росчерком, запечатанный в капсулу. Самый гибкий предмет подборки: его оформляют в раму рядом с любой фотографией на выбор. Автограф на отдельном листе, запечатанный в капсулу. Самый доступный предмет подборки и самый гибкий: капсулу можно оформить в раму рядом с любой фотографией на выбор.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0418" y="4724698"/>
            <a:ext cx="155957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0418" y="5258098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64" y="1317427"/>
            <a:ext cx="5412402" cy="4095601"/>
          </a:xfrm>
          <a:prstGeom prst="rect">
            <a:avLst/>
          </a:prstGeom>
        </p:spPr>
      </p:pic>
      <p:pic>
        <p:nvPicPr>
          <p:cNvPr id="4" name="Picture 3" descr="m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10" y="1433512"/>
            <a:ext cx="4994762" cy="3863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66700"/>
            <a:ext cx="267920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3217" y="381000"/>
            <a:ext cx="19706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19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940028"/>
            <a:ext cx="8929241" cy="9751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48590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15075" y="148590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1353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15075" y="21353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25925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5075" y="25925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242072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5075" y="3242072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891558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15075" y="3891558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4541044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5075" y="4541044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519053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5075" y="519053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285750"/>
            <a:ext cx="23336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485775"/>
            <a:ext cx="211484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50"/>
              </a:lnSpc>
            </a:pPr>
            <a:r>
              <a:rPr sz="28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предметов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1162050"/>
            <a:ext cx="313595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«Off The Wall» — конверт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4590" y="1104900"/>
            <a:ext cx="125283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975" y="1162050"/>
            <a:ext cx="295155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промо-тираж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0575" y="1104900"/>
            <a:ext cx="124137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619250"/>
            <a:ext cx="4085779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конверт с именным посвящением и автографом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729" y="1562100"/>
            <a:ext cx="1238696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6975" y="1619250"/>
            <a:ext cx="388218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ранний тираж QE 38112 с автографом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6230" y="1562100"/>
            <a:ext cx="123572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2268736"/>
            <a:ext cx="409009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белой шляпе с автографом, 28×36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6347" y="2211586"/>
            <a:ext cx="1241078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975" y="2268736"/>
            <a:ext cx="358750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Цветная фотография с автографом, 28×36 см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9596" y="2211586"/>
            <a:ext cx="121235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2725936"/>
            <a:ext cx="4112121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5071" y="2668786"/>
            <a:ext cx="121235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6025" y="2725936"/>
            <a:ext cx="4125813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3288" y="2668786"/>
            <a:ext cx="1198662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375422"/>
            <a:ext cx="4102150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5100" y="3318272"/>
            <a:ext cx="122232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6025" y="3375422"/>
            <a:ext cx="4118967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эпохи «Billie Jean» с автографом, 41×51 см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86442" y="3318272"/>
            <a:ext cx="1205508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450" y="4024908"/>
            <a:ext cx="4143226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«Farewell My Summer Love» — конверт с автографом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7899" y="3967758"/>
            <a:ext cx="1209526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6025" y="4024908"/>
            <a:ext cx="4099322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«Got To Be There» — конверт сольного дебюта с автографом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6797" y="3967758"/>
            <a:ext cx="1225153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4674394"/>
            <a:ext cx="4231481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«Diana Ross Presents The Jackson 5» — конверт с автографом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431" y="4617244"/>
            <a:ext cx="109299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6975" y="4674394"/>
            <a:ext cx="389676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Автограф на отдельном листе в капсуле, 23×9 см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2769" y="4617244"/>
            <a:ext cx="1069181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64712"/>
            <a:ext cx="1755130" cy="1333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522018"/>
            <a:ext cx="6454229" cy="1509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61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 Джексон. От первого сингла до последней пластинки с Куинси Джонсом.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34125"/>
            <a:ext cx="13583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