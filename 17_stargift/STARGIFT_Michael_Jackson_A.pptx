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Relationship Id="rId7" Type="http://schemas.openxmlformats.org/officeDocument/2006/relationships/image" Target="../media/image1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576" y="0"/>
            <a:ext cx="6156424" cy="6858000"/>
          </a:xfrm>
          <a:prstGeom prst="rect">
            <a:avLst/>
          </a:prstGeom>
        </p:spPr>
      </p:pic>
      <p:pic>
        <p:nvPicPr>
          <p:cNvPr id="4" name="Picture 3" descr="m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533444"/>
            <a:ext cx="1755130" cy="13334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577108"/>
            <a:ext cx="332229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ЧАСТНОЕ СОБРАНИЕ · МУЗЫКА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2929533"/>
            <a:ext cx="5102126" cy="13710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98"/>
              </a:lnSpc>
            </a:pPr>
            <a:r>
              <a:rPr sz="49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Майкл</a:t>
            </a:r>
          </a:p>
          <a:p>
            <a:pPr algn="l">
              <a:lnSpc>
                <a:spcPts val="5098"/>
              </a:lnSpc>
            </a:pPr>
            <a:r>
              <a:rPr sz="49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Джексон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4433888"/>
            <a:ext cx="4199037" cy="107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8"/>
              </a:lnSpc>
            </a:pPr>
            <a:r>
              <a:rPr sz="120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Девять подписанных пластинок — от первого сингла Jackson 5 до «Bad» — и пять фотографий. Двадцать лет карьеры, собранные по конвертам, которые он держал в руках.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62675"/>
            <a:ext cx="289336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234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14 ПРЕДМЕТОВ · АВГУСТ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2392" y="6588472"/>
            <a:ext cx="3567708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73"/>
              </a:lnSpc>
            </a:pPr>
            <a:r>
              <a:rPr sz="819" b="0" i="0" spc="66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Epic Records · Wikimedia Commons · public domain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34700" y="3473053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68296" y="1749028"/>
            <a:ext cx="219030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75"/>
              </a:lnSpc>
            </a:pPr>
            <a:r>
              <a:rPr sz="980" b="0" i="0" spc="29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1969–1971 · MOTOWN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3075" y="2101453"/>
            <a:ext cx="3946475" cy="1181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4350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Пятеро братьев</a:t>
            </a:r>
          </a:p>
          <a:p>
            <a:pPr algn="r">
              <a:lnSpc>
                <a:spcPts val="4350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из Гэри, Индиана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5116" y="3711178"/>
            <a:ext cx="5234434" cy="1416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640"/>
              </a:lnSpc>
            </a:pPr>
            <a:r>
              <a:rPr sz="165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Осенью 1969 года Motown выпустил сингл группы, которую ещё никто не знал. Через три месяца он стоял на первой строчке, а солисту было одиннадцать лет.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9001" y="6588472"/>
            <a:ext cx="3791099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73"/>
              </a:lnSpc>
            </a:pPr>
            <a:r>
              <a:rPr sz="819" b="0" i="0" spc="66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Bernie Ilson, Inc. · Wikimedia Commons · public domain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92255" y="2085677"/>
            <a:ext cx="19050" cy="1445121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4.jpg"/>
          <p:cNvPicPr>
            <a:picLocks noChangeAspect="1"/>
          </p:cNvPicPr>
          <p:nvPr/>
        </p:nvPicPr>
        <p:blipFill>
          <a:blip r:embed="rId2"/>
          <a:srcRect t="5469" b="5469"/>
          <a:stretch>
            <a:fillRect/>
          </a:stretch>
        </p:blipFill>
        <p:spPr>
          <a:xfrm>
            <a:off x="0" y="0"/>
            <a:ext cx="684460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54155" y="918865"/>
            <a:ext cx="240491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1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3205" y="1185565"/>
            <a:ext cx="4642545" cy="814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«Diana Ross Presents The Jackson 5» — конверт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5605" y="2047577"/>
            <a:ext cx="1461939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1969 · MOTOWN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4655" y="2257127"/>
            <a:ext cx="4471095" cy="13308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76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Дебютный альбом Jackson 5. Имя Дайаны Росс на обложке было рекламным ходом лейбла: группу она не открывала, но её имя открывало радиостанции. Сингл с этой пластинки встал на первое место Billboard в январе 1970-го.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3205" y="3635573"/>
            <a:ext cx="4642545" cy="1467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Конверт в состоянии, редком для тиража 1969 года: углы целы, картон не расслоился. Росчерк идёт наискось через всю обложку — так Джексон подписывал в ранние годы, размашисто и во всю площадь.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4155" y="5179516"/>
            <a:ext cx="1597223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4155" y="5712916"/>
            <a:ext cx="91633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92255" y="2534841"/>
            <a:ext cx="19050" cy="1194197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5.jpg"/>
          <p:cNvPicPr>
            <a:picLocks noChangeAspect="1"/>
          </p:cNvPicPr>
          <p:nvPr/>
        </p:nvPicPr>
        <p:blipFill>
          <a:blip r:embed="rId2"/>
          <a:srcRect t="5469" b="5469"/>
          <a:stretch>
            <a:fillRect/>
          </a:stretch>
        </p:blipFill>
        <p:spPr>
          <a:xfrm>
            <a:off x="0" y="0"/>
            <a:ext cx="684460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54155" y="998934"/>
            <a:ext cx="2429917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2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3205" y="1265634"/>
            <a:ext cx="4642545" cy="1183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«Maybe Tomorrow» — первый тираж 1971 года с автографами братьев Джексон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5605" y="2496741"/>
            <a:ext cx="1428452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1971 · MOTOWN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4655" y="2706291"/>
            <a:ext cx="4471095" cy="10798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76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Четвёртый альбом Jackson 5, вышедший на пике их первой славы. Экземпляр из первого тиража: разворотный конверт и оригинальные синие лейблы Motown на самом виниле.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3205" y="3833812"/>
            <a:ext cx="4642545" cy="1189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Автографы Jackson 5 того периода встречаются реже сольных: группа подписывала мало и почти всегда на бегу. Здесь росчерки идут по светлой части обложки и читаются все до одного.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4155" y="5099447"/>
            <a:ext cx="1786086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1 850 000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4155" y="5632847"/>
            <a:ext cx="527596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797" y="847725"/>
            <a:ext cx="1878806" cy="1905000"/>
          </a:xfrm>
          <a:prstGeom prst="rect">
            <a:avLst/>
          </a:prstGeom>
        </p:spPr>
      </p:pic>
      <p:pic>
        <p:nvPicPr>
          <p:cNvPr id="4" name="Picture 3" descr="m0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430" y="847725"/>
            <a:ext cx="2958992" cy="1904851"/>
          </a:xfrm>
          <a:prstGeom prst="rect">
            <a:avLst/>
          </a:prstGeom>
        </p:spPr>
      </p:pic>
      <p:pic>
        <p:nvPicPr>
          <p:cNvPr id="5" name="Picture 4" descr="m0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5100" y="847725"/>
            <a:ext cx="1989401" cy="1904851"/>
          </a:xfrm>
          <a:prstGeom prst="rect">
            <a:avLst/>
          </a:prstGeom>
        </p:spPr>
      </p:pic>
      <p:pic>
        <p:nvPicPr>
          <p:cNvPr id="6" name="Picture 5" descr="m00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2736" y="3312914"/>
            <a:ext cx="1938780" cy="1904851"/>
          </a:xfrm>
          <a:prstGeom prst="rect">
            <a:avLst/>
          </a:prstGeom>
        </p:spPr>
      </p:pic>
      <p:pic>
        <p:nvPicPr>
          <p:cNvPr id="7" name="Picture 6" descr="m0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8262" y="3312914"/>
            <a:ext cx="1895475" cy="1905000"/>
          </a:xfrm>
          <a:prstGeom prst="rect">
            <a:avLst/>
          </a:prstGeom>
        </p:spPr>
      </p:pic>
      <p:pic>
        <p:nvPicPr>
          <p:cNvPr id="8" name="Picture 7" descr="m01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9899" y="3312914"/>
            <a:ext cx="2539802" cy="19048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266700"/>
            <a:ext cx="4998988" cy="4476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0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«Maybe Tomorrow» · разворот и винил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81083" y="428625"/>
            <a:ext cx="2429917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2 ИЗ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9050" y="5606653"/>
            <a:ext cx="10764738" cy="13084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4"/>
              </a:lnSpc>
            </a:pPr>
            <a:r>
              <a:rPr sz="13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Разворотный конверт с росчерками, внутренний разворот с фотографиями группы, оригинальные синие лейблы Motown и сам винил. Первый пресс отличается именно лейблом: у поздних переизданий он другого цвета и с другим шрифтом.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92255" y="2336602"/>
            <a:ext cx="19050" cy="943273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2.jpg"/>
          <p:cNvPicPr>
            <a:picLocks noChangeAspect="1"/>
          </p:cNvPicPr>
          <p:nvPr/>
        </p:nvPicPr>
        <p:blipFill>
          <a:blip r:embed="rId2"/>
          <a:srcRect t="5469" b="5469"/>
          <a:stretch>
            <a:fillRect/>
          </a:stretch>
        </p:blipFill>
        <p:spPr>
          <a:xfrm>
            <a:off x="0" y="0"/>
            <a:ext cx="684460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54155" y="1169789"/>
            <a:ext cx="243125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3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3205" y="1436489"/>
            <a:ext cx="4642545" cy="814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«Got To Be There» — конверт сольного дебюта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5605" y="2298502"/>
            <a:ext cx="1451521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1972 · MOTOWN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4655" y="2508052"/>
            <a:ext cx="4471095" cy="8289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76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Сольный дебют — Майклу тринадцать. Motown выпустил альбом, не выводя его из состава Jackson 5. С этой обложки начинается его отдельная биография.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3205" y="3384649"/>
            <a:ext cx="4642545" cy="1467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Конверт сольного дебюта с автографом. Точка, с которой начинается всё остальное в этой подборке: до «Got To Be There» Майкл Джексон был солистом группы, после — самостоятельным именем на обложке.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4155" y="4928592"/>
            <a:ext cx="1806476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1 000 000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4155" y="5461992"/>
            <a:ext cx="51941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92255" y="2085677"/>
            <a:ext cx="19050" cy="1445121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3.jpg"/>
          <p:cNvPicPr>
            <a:picLocks noChangeAspect="1"/>
          </p:cNvPicPr>
          <p:nvPr/>
        </p:nvPicPr>
        <p:blipFill>
          <a:blip r:embed="rId2"/>
          <a:srcRect t="5469" b="5469"/>
          <a:stretch>
            <a:fillRect/>
          </a:stretch>
        </p:blipFill>
        <p:spPr>
          <a:xfrm>
            <a:off x="0" y="0"/>
            <a:ext cx="684460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54155" y="918865"/>
            <a:ext cx="243482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4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3205" y="1185565"/>
            <a:ext cx="4642545" cy="814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«Farewell My Summer Love» — конверт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5605" y="2047577"/>
            <a:ext cx="146491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1984 · MOTOWN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4655" y="2257127"/>
            <a:ext cx="4471095" cy="13308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76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Записи 1973 года пролежали в архиве лейбла одиннадцать лет. В 1984-м, на волне успеха «Thriller» у другого лейбла, их достали, добавили современную аранжировку и выпустили как новый альбом — без участия артиста.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3205" y="3635573"/>
            <a:ext cx="4642545" cy="1467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Конверт с автографом. Экземпляр полный: с бонусным цветным постером, который вкладывался в первый тираж и обычно теряется первым. Обложка — ночной концертный кадр, редкий для его пластинок сюжет.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4155" y="5179516"/>
            <a:ext cx="1781770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1 050 000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4155" y="5712916"/>
            <a:ext cx="91633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559" y="847725"/>
            <a:ext cx="1869281" cy="1905000"/>
          </a:xfrm>
          <a:prstGeom prst="rect">
            <a:avLst/>
          </a:prstGeom>
        </p:spPr>
      </p:pic>
      <p:pic>
        <p:nvPicPr>
          <p:cNvPr id="4" name="Picture 3" descr="m0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631" y="847725"/>
            <a:ext cx="1328738" cy="1905000"/>
          </a:xfrm>
          <a:prstGeom prst="rect">
            <a:avLst/>
          </a:prstGeom>
        </p:spPr>
      </p:pic>
      <p:pic>
        <p:nvPicPr>
          <p:cNvPr id="5" name="Picture 4" descr="m01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7863" y="847725"/>
            <a:ext cx="1943726" cy="1904851"/>
          </a:xfrm>
          <a:prstGeom prst="rect">
            <a:avLst/>
          </a:prstGeom>
        </p:spPr>
      </p:pic>
      <p:pic>
        <p:nvPicPr>
          <p:cNvPr id="6" name="Picture 5" descr="m01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1169" y="3442097"/>
            <a:ext cx="1262062" cy="1905000"/>
          </a:xfrm>
          <a:prstGeom prst="rect">
            <a:avLst/>
          </a:prstGeom>
        </p:spPr>
      </p:pic>
      <p:pic>
        <p:nvPicPr>
          <p:cNvPr id="7" name="Picture 6" descr="m01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1625" y="3442097"/>
            <a:ext cx="1428750" cy="1905000"/>
          </a:xfrm>
          <a:prstGeom prst="rect">
            <a:avLst/>
          </a:prstGeom>
        </p:spPr>
      </p:pic>
      <p:pic>
        <p:nvPicPr>
          <p:cNvPr id="8" name="Picture 7" descr="m019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5425" y="3442097"/>
            <a:ext cx="1428750" cy="1905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266700"/>
            <a:ext cx="5034111" cy="4476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0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«Farewell My Summer Love» · комплект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6172" y="428625"/>
            <a:ext cx="243482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4 ИЗ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9050" y="5865019"/>
            <a:ext cx="10764738" cy="10501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4"/>
              </a:lnSpc>
            </a:pPr>
            <a:r>
              <a:rPr sz="13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Лицевая сторона с автографом, оборот с указанием на вложенный постер, внутренний конверт со списком композиций и сам винил. Сохранность конверта для тиража 1984 года выше средней.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34700" y="3473053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38879" y="1749028"/>
            <a:ext cx="181972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75"/>
              </a:lnSpc>
            </a:pPr>
            <a:r>
              <a:rPr sz="980" b="0" i="0" spc="29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1979–1987 · EPIC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02377" y="2101453"/>
            <a:ext cx="3337173" cy="1181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4350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Куинси Джонс</a:t>
            </a:r>
          </a:p>
          <a:p>
            <a:pPr algn="r">
              <a:lnSpc>
                <a:spcPts val="4350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и три альбома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5116" y="3711178"/>
            <a:ext cx="5234434" cy="1416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640"/>
              </a:lnSpc>
            </a:pPr>
            <a:r>
              <a:rPr sz="165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Уйдя с Motown, Джексон записал с продюсером Куинси Джонсом три пластинки подряд. Каждая следующая продавалась лучше предыдущей — случай, которого в поп-музыке больше не было.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2392" y="6588472"/>
            <a:ext cx="3567708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73"/>
              </a:lnSpc>
            </a:pPr>
            <a:r>
              <a:rPr sz="819" b="0" i="0" spc="66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Epic Records · Wikimedia Commons · public domain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92255" y="2211139"/>
            <a:ext cx="19050" cy="1194197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1.jpg"/>
          <p:cNvPicPr>
            <a:picLocks noChangeAspect="1"/>
          </p:cNvPicPr>
          <p:nvPr/>
        </p:nvPicPr>
        <p:blipFill>
          <a:blip r:embed="rId2"/>
          <a:srcRect t="5469" b="5469"/>
          <a:stretch>
            <a:fillRect/>
          </a:stretch>
        </p:blipFill>
        <p:spPr>
          <a:xfrm>
            <a:off x="0" y="0"/>
            <a:ext cx="684460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54155" y="1044327"/>
            <a:ext cx="2428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5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3205" y="1311027"/>
            <a:ext cx="4642545" cy="814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«Off The Wall» — конверт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5605" y="2173039"/>
            <a:ext cx="1111448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1979 · EPIC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4655" y="2382589"/>
            <a:ext cx="4471095" cy="10798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76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Первая совместная работа с Куинси Джонсом. Четыре сингла с альбома вошли в первую десятку Billboard — до этого ни один сольный исполнитель такого не добивался.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3205" y="3510111"/>
            <a:ext cx="4642545" cy="1467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Конверт с автографом — самый дорогой предмет подборки. Обложка снята в смокинге у кирпичной стены: образ, который Джексон потом повторял на сцене годами. Росчерк лежит по светлому полю и читается целиком.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4155" y="5054054"/>
            <a:ext cx="1850231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4 000 000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4155" y="5587454"/>
            <a:ext cx="51941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92255" y="2085677"/>
            <a:ext cx="19050" cy="1445121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2.jpg"/>
          <p:cNvPicPr>
            <a:picLocks noChangeAspect="1"/>
          </p:cNvPicPr>
          <p:nvPr/>
        </p:nvPicPr>
        <p:blipFill>
          <a:blip r:embed="rId2"/>
          <a:srcRect t="5469" b="5469"/>
          <a:stretch>
            <a:fillRect/>
          </a:stretch>
        </p:blipFill>
        <p:spPr>
          <a:xfrm>
            <a:off x="0" y="0"/>
            <a:ext cx="684460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54155" y="918865"/>
            <a:ext cx="243155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6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3205" y="1185565"/>
            <a:ext cx="4642545" cy="814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«Thriller» — ранний тираж QE 38112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5605" y="2047577"/>
            <a:ext cx="1119932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1982 · EPIC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4655" y="2257127"/>
            <a:ext cx="4471095" cy="13308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76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Самый продаваемый альбом в истории звукозаписи. Экземпляр из раннего тиража: каталожный номер QE 38112, то есть пластинка отпечатана в первые месяцы после выхода, ещё до того, как продажи стали рекордными.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3205" y="3635573"/>
            <a:ext cx="4642545" cy="1467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Конверт «Thriller» раннего тиража с автографом. Белый костюм на чёрном фоне — обложка, которую узнают без подписи в любой стране. Автограф поставлен по светлому пиджаку и не спорит с изображением.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4155" y="5179516"/>
            <a:ext cx="1822996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2 400 000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4155" y="5712916"/>
            <a:ext cx="91633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481" y="847725"/>
            <a:ext cx="2357438" cy="3143250"/>
          </a:xfrm>
          <a:prstGeom prst="rect">
            <a:avLst/>
          </a:prstGeom>
        </p:spPr>
      </p:pic>
      <p:pic>
        <p:nvPicPr>
          <p:cNvPr id="4" name="Picture 3" descr="m0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281" y="847725"/>
            <a:ext cx="2357438" cy="3143250"/>
          </a:xfrm>
          <a:prstGeom prst="rect">
            <a:avLst/>
          </a:prstGeom>
        </p:spPr>
      </p:pic>
      <p:pic>
        <p:nvPicPr>
          <p:cNvPr id="5" name="Picture 4" descr="m0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1081" y="847725"/>
            <a:ext cx="2357438" cy="314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266700"/>
            <a:ext cx="5524351" cy="4476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80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«Thriller» · конверт и внутренний разворот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9446" y="428625"/>
            <a:ext cx="243155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6 ИЗ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9050" y="5865019"/>
            <a:ext cx="10764738" cy="10501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4"/>
              </a:lnSpc>
            </a:pPr>
            <a:r>
              <a:rPr sz="13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Лицевая сторона с автографом, внутренний разворот с текстами песен и сам винил. Ранний пресс узнаётся по каталожному номеру на этикетке.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92255" y="4523929"/>
            <a:ext cx="19050" cy="501848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6.jpg"/>
          <p:cNvPicPr>
            <a:picLocks noChangeAspect="1"/>
          </p:cNvPicPr>
          <p:nvPr/>
        </p:nvPicPr>
        <p:blipFill>
          <a:blip r:embed="rId2"/>
          <a:srcRect t="5469" b="5469"/>
          <a:stretch>
            <a:fillRect/>
          </a:stretch>
        </p:blipFill>
        <p:spPr>
          <a:xfrm>
            <a:off x="0" y="0"/>
            <a:ext cx="684460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54155" y="1794123"/>
            <a:ext cx="302448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ОФОРМЛЕНИЕ · ПЛАСТИНКА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3205" y="2060823"/>
            <a:ext cx="4642545" cy="814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Раскрывающаяся рама: конверт и сам диск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73205" y="2922836"/>
            <a:ext cx="4642545" cy="1467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Две квадратные панели на латунных петлях, бордовый бархат внутри. Закрытой рама показывает конверт, открытой — конверт и винил в глубокой нише. Формат дома для пластинки, у которой хочется показать обе части.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4655" y="4504879"/>
            <a:ext cx="4471095" cy="578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76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Бархат подбираем под палитру конверта: бордовый, тёмно-синий или бирюзовый.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92255" y="4339382"/>
            <a:ext cx="19050" cy="501848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7.jpg"/>
          <p:cNvPicPr>
            <a:picLocks noChangeAspect="1"/>
          </p:cNvPicPr>
          <p:nvPr/>
        </p:nvPicPr>
        <p:blipFill>
          <a:blip r:embed="rId2"/>
          <a:srcRect t="5469" b="5469"/>
          <a:stretch>
            <a:fillRect/>
          </a:stretch>
        </p:blipFill>
        <p:spPr>
          <a:xfrm>
            <a:off x="0" y="0"/>
            <a:ext cx="684460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54155" y="1978670"/>
            <a:ext cx="302448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ОФОРМЛЕНИЕ · ПЛАСТИНКА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54155" y="2226320"/>
            <a:ext cx="4798814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Закрытый квадрат: только конверт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73205" y="2738289"/>
            <a:ext cx="4642545" cy="1467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Тот же экземпляр в простой подаче — одна квадратная рама, бордовое бархатное паспарту, тонкая золотая линия и латунная табличка внизу. Вешается как картина и занимает вдвое меньше стены.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4655" y="4320332"/>
            <a:ext cx="4471095" cy="578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76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Выбор между диптихом и квадратом — вопрос места и того, подписан ли сам винил.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92255" y="2395686"/>
            <a:ext cx="19050" cy="1194197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8.jpg"/>
          <p:cNvPicPr>
            <a:picLocks noChangeAspect="1"/>
          </p:cNvPicPr>
          <p:nvPr/>
        </p:nvPicPr>
        <p:blipFill>
          <a:blip r:embed="rId2"/>
          <a:srcRect t="5469" b="5469"/>
          <a:stretch>
            <a:fillRect/>
          </a:stretch>
        </p:blipFill>
        <p:spPr>
          <a:xfrm>
            <a:off x="0" y="0"/>
            <a:ext cx="684460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54155" y="859780"/>
            <a:ext cx="242426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7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3205" y="1126480"/>
            <a:ext cx="4642545" cy="1183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«Thriller» — японское издание инструментальной версии с оби-полосой и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5605" y="2357586"/>
            <a:ext cx="1677888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1982 · EPIC JAPAN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4655" y="2567136"/>
            <a:ext cx="4471095" cy="10798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76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Японское издание с оби-полосой — узкой бумажной лентой на корешке, которую печатали отдельно и почти всегда выбрасывали при вскрытии. Инструментальная версия выпускалась только для японского рынка.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3205" y="3694658"/>
            <a:ext cx="4642545" cy="1467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Оби-полоса сохранена целиком, с иероглифами и ценой в иенах — по ней японский экземпляр отличают от европейского с первого взгляда. Автограф поставлен по светлому полю обложки и не перекрывает лицо.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4155" y="5238601"/>
            <a:ext cx="1764506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1 750 000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4155" y="5772001"/>
            <a:ext cx="51941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92255" y="2071985"/>
            <a:ext cx="19050" cy="1194197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9.jpg"/>
          <p:cNvPicPr>
            <a:picLocks noChangeAspect="1"/>
          </p:cNvPicPr>
          <p:nvPr/>
        </p:nvPicPr>
        <p:blipFill>
          <a:blip r:embed="rId2"/>
          <a:srcRect t="5469" b="5469"/>
          <a:stretch>
            <a:fillRect/>
          </a:stretch>
        </p:blipFill>
        <p:spPr>
          <a:xfrm>
            <a:off x="0" y="0"/>
            <a:ext cx="684460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54155" y="905173"/>
            <a:ext cx="243155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8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3205" y="1171873"/>
            <a:ext cx="4642545" cy="814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«Bad» — конверт с именным посвящением и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5605" y="2033885"/>
            <a:ext cx="111472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1987 · EPIC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4655" y="2243435"/>
            <a:ext cx="4471095" cy="10798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76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Третья и последняя пластинка, сделанная с Куинси Джонсом. Пять синглов с одного альбома поднялись на первое место Billboard — до «Bad» этого не удавалось никому.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3205" y="3370957"/>
            <a:ext cx="4642545" cy="17460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Конверт с автографом и именным посвящением — Джексон подписал его конкретному человеку, надписав имя от руки. Такие экземпляры ценятся отдельно: они доказывают, что подпись поставлена вживую, а не на стопке конвертов у стола промоутера.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4155" y="5193209"/>
            <a:ext cx="1827758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3 000 000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4155" y="5726609"/>
            <a:ext cx="527596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92255" y="2350294"/>
            <a:ext cx="19050" cy="1194197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0.jpg"/>
          <p:cNvPicPr>
            <a:picLocks noChangeAspect="1"/>
          </p:cNvPicPr>
          <p:nvPr/>
        </p:nvPicPr>
        <p:blipFill>
          <a:blip r:embed="rId2"/>
          <a:srcRect t="5469" b="5469"/>
          <a:stretch>
            <a:fillRect/>
          </a:stretch>
        </p:blipFill>
        <p:spPr>
          <a:xfrm>
            <a:off x="0" y="0"/>
            <a:ext cx="684460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54155" y="1183481"/>
            <a:ext cx="243155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ПЛАСТИНКИ · 9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3205" y="1450181"/>
            <a:ext cx="4642545" cy="814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«Bad» — промо-тираж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5605" y="2312194"/>
            <a:ext cx="111472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1987 · EPIC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4655" y="2521744"/>
            <a:ext cx="4471095" cy="10798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76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Промо-тираж печатался ограниченным числом и рассылался на радио до официального выхода. В продажу такие экземпляры не поступали, поэтому уцелевших мало.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3205" y="3649266"/>
            <a:ext cx="4642545" cy="1189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Промо-экземпляр узнаётся по обороту: вместо торгового оформления там служебная разметка для радиостанции. Автограф крупный, поставлен по белому полю рядом с логотипом.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4155" y="4914900"/>
            <a:ext cx="1832074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3 800 000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4155" y="5448300"/>
            <a:ext cx="51941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34700" y="3305473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77314" y="1581448"/>
            <a:ext cx="148128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75"/>
              </a:lnSpc>
            </a:pPr>
            <a:r>
              <a:rPr sz="980" b="0" i="0" spc="29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ФОТОГРАФИИ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02328" y="1933873"/>
            <a:ext cx="2537222" cy="1181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4350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Белый дом,</a:t>
            </a:r>
          </a:p>
          <a:p>
            <a:pPr algn="r">
              <a:lnSpc>
                <a:spcPts val="4350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14 мая 1984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5116" y="3543598"/>
            <a:ext cx="5234434" cy="17520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640"/>
              </a:lnSpc>
            </a:pPr>
            <a:r>
              <a:rPr sz="165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Рейган вручает Джексону благодарность за то, что тот отдал «Beat It» для кампании против пьяного вождения. Год «Thriller» — и единственный визит поп-музыканта в Розовый сад в таком качестве.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3009" y="6588472"/>
            <a:ext cx="4827091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73"/>
              </a:lnSpc>
            </a:pPr>
            <a:r>
              <a:rPr sz="819" b="0" i="0" spc="66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Ronald Reagan Presidential Library · Wikimedia Commons · public domain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92255" y="2350294"/>
            <a:ext cx="19050" cy="1194197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2.jpg"/>
          <p:cNvPicPr>
            <a:picLocks noChangeAspect="1"/>
          </p:cNvPicPr>
          <p:nvPr/>
        </p:nvPicPr>
        <p:blipFill>
          <a:blip r:embed="rId2"/>
          <a:srcRect t="5469" b="5469"/>
          <a:stretch>
            <a:fillRect/>
          </a:stretch>
        </p:blipFill>
        <p:spPr>
          <a:xfrm>
            <a:off x="0" y="0"/>
            <a:ext cx="684460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54155" y="1183481"/>
            <a:ext cx="265077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ФОТОГРАФИИ · 10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3205" y="1450181"/>
            <a:ext cx="4642545" cy="814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Фотография эпохи «Billie Jean» с автографом, 41×51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5605" y="2312194"/>
            <a:ext cx="2491829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1983 · ЭПОХА «BILLIE JEAN»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4655" y="2521744"/>
            <a:ext cx="4471095" cy="10798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76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Год после выхода «Thriller»: сингл «Billie Jean» держится в верхней строчке, а лунная походка на юбилейном концерте Motown только что превратила Джексона в главную фигуру десятилетия.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3205" y="3649266"/>
            <a:ext cx="4642545" cy="1189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Крупноформатный кадр эпохи «Billie Jean» с автографом. Формат 41×51 см — самый большой в подборке, рассчитанный на то, чтобы висеть отдельно, а не в ряду.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4155" y="4914900"/>
            <a:ext cx="1775222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1 300 000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4155" y="5448300"/>
            <a:ext cx="51941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92255" y="2660303"/>
            <a:ext cx="19050" cy="943273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3.jpg"/>
          <p:cNvPicPr>
            <a:picLocks noChangeAspect="1"/>
          </p:cNvPicPr>
          <p:nvPr/>
        </p:nvPicPr>
        <p:blipFill>
          <a:blip r:embed="rId2"/>
          <a:srcRect t="5469" b="5469"/>
          <a:stretch>
            <a:fillRect/>
          </a:stretch>
        </p:blipFill>
        <p:spPr>
          <a:xfrm>
            <a:off x="0" y="0"/>
            <a:ext cx="684460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54155" y="1124396"/>
            <a:ext cx="2622203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ФОТОГРАФИИ · 11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3205" y="1391096"/>
            <a:ext cx="4642545" cy="1183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Фотография в расшитом сценическом костюме с автографом, 19×28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5605" y="2622203"/>
            <a:ext cx="146625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1980-Е · СЦЕНА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4655" y="2831753"/>
            <a:ext cx="4471095" cy="8289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76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Расшитый сценический костюм — часть образа, который Джексон выстраивал сам: военная выправка, блеск, узнаваемый силуэт с последнего ряда зала.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3205" y="3708350"/>
            <a:ext cx="4642545" cy="1189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Сценический кадр в расшитом костюме с автографом. Небольшой формат, плотная композиция: лицо, костюм и росчерк умещаются в одном кадре без пустот.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4155" y="4973985"/>
            <a:ext cx="1802011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1 600 000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4155" y="5507385"/>
            <a:ext cx="91633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92255" y="2489448"/>
            <a:ext cx="19050" cy="1194197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4.jpg"/>
          <p:cNvPicPr>
            <a:picLocks noChangeAspect="1"/>
          </p:cNvPicPr>
          <p:nvPr/>
        </p:nvPicPr>
        <p:blipFill>
          <a:blip r:embed="rId2"/>
          <a:srcRect t="5469" b="5469"/>
          <a:stretch>
            <a:fillRect/>
          </a:stretch>
        </p:blipFill>
        <p:spPr>
          <a:xfrm>
            <a:off x="0" y="0"/>
            <a:ext cx="684460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54155" y="1322636"/>
            <a:ext cx="264720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ФОТОГРАФИИ · 12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3205" y="1589336"/>
            <a:ext cx="4642545" cy="814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Цветная фотография с автографом, 28×36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5605" y="2451348"/>
            <a:ext cx="766614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1990-Е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4655" y="2660898"/>
            <a:ext cx="4471095" cy="10798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76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Кадр периода, когда Джексон уже не выступал регулярно, но оставался самым узнаваемым лицом в мире. Чёрная куртка с шевронами — его поздний сценический образ.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3205" y="3788420"/>
            <a:ext cx="4642545" cy="9111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Цветной портрет в чёрной куртке с шевронами — образ конца восьмидесятых. Автограф серебряным маркером по тёмному полю, читается на просвет.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4155" y="4775746"/>
            <a:ext cx="1786086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1 850 000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4155" y="5309146"/>
            <a:ext cx="91633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92255" y="2475756"/>
            <a:ext cx="19050" cy="943273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5.jpg"/>
          <p:cNvPicPr>
            <a:picLocks noChangeAspect="1"/>
          </p:cNvPicPr>
          <p:nvPr/>
        </p:nvPicPr>
        <p:blipFill>
          <a:blip r:embed="rId2"/>
          <a:srcRect t="5469" b="5469"/>
          <a:stretch>
            <a:fillRect/>
          </a:stretch>
        </p:blipFill>
        <p:spPr>
          <a:xfrm>
            <a:off x="0" y="0"/>
            <a:ext cx="684460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54155" y="1308943"/>
            <a:ext cx="264854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ФОТОГРАФИИ · 13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3205" y="1575643"/>
            <a:ext cx="4642545" cy="814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Фотография в белой шляпе с автографом, 28×36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5605" y="2437656"/>
            <a:ext cx="286643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1987–1988 · «SMOOTH CRIMINAL»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4655" y="2647206"/>
            <a:ext cx="4471095" cy="8289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76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Белая шляпа, синий свет и наклон корпуса — самая копируемая поза в истории поп-музыки, снятая на съёмках «Moonwalker».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3205" y="3523804"/>
            <a:ext cx="4642545" cy="1189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Кадр в белой шляпе и синем сценическом свете — узнаваемая поза из «Smooth Criminal». Один из тех снимков, где герой опознаётся по силуэту, даже если закрыть лицо.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4155" y="4789438"/>
            <a:ext cx="1831777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2 000 000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4155" y="5322838"/>
            <a:ext cx="527596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92255" y="4384774"/>
            <a:ext cx="19050" cy="501848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6.jpg"/>
          <p:cNvPicPr>
            <a:picLocks noChangeAspect="1"/>
          </p:cNvPicPr>
          <p:nvPr/>
        </p:nvPicPr>
        <p:blipFill>
          <a:blip r:embed="rId2"/>
          <a:srcRect t="5469" b="5469"/>
          <a:stretch>
            <a:fillRect/>
          </a:stretch>
        </p:blipFill>
        <p:spPr>
          <a:xfrm>
            <a:off x="0" y="0"/>
            <a:ext cx="684460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54155" y="1933277"/>
            <a:ext cx="313819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ОФОРМЛЕНИЕ · ФОТОГРАФИЯ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3205" y="2199977"/>
            <a:ext cx="4642545" cy="814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Тёмная рама, синее замшевое паспарту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73205" y="3061990"/>
            <a:ext cx="4642545" cy="1189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Под холодный кадр берём синее паспарту и тёмную раму: рамка не спорит со сценическим светом, а золотая линия по краю окна отделяет снимок от поля. Латунная табличка с именем внизу.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4655" y="4365724"/>
            <a:ext cx="4471095" cy="578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76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Цвет паспарту всегда берём у самой фотографии, а не по каталогу.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92255" y="4200227"/>
            <a:ext cx="19050" cy="501848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7.jpg"/>
          <p:cNvPicPr>
            <a:picLocks noChangeAspect="1"/>
          </p:cNvPicPr>
          <p:nvPr/>
        </p:nvPicPr>
        <p:blipFill>
          <a:blip r:embed="rId2"/>
          <a:srcRect t="5469" b="5469"/>
          <a:stretch>
            <a:fillRect/>
          </a:stretch>
        </p:blipFill>
        <p:spPr>
          <a:xfrm>
            <a:off x="0" y="0"/>
            <a:ext cx="684460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54155" y="2117824"/>
            <a:ext cx="313819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ОФОРМЛЕНИЕ · ФОТОГРАФИЯ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54155" y="2365474"/>
            <a:ext cx="4647456" cy="466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Кованое золото, бордовый бархат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73205" y="2877443"/>
            <a:ext cx="4642545" cy="1189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Тёплый кадр требует тёплой рамы: кованое золото и бордовый бархат — классический регистр дома для портретов. Тот же снимок в тёмной раме выглядел бы холоднее, чем он есть.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4655" y="4181177"/>
            <a:ext cx="4471095" cy="578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76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Две фотографии рядом на одной стене оформляем в одном материале рамы.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92255" y="2475756"/>
            <a:ext cx="19050" cy="943273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8.jpg"/>
          <p:cNvPicPr>
            <a:picLocks noChangeAspect="1"/>
          </p:cNvPicPr>
          <p:nvPr/>
        </p:nvPicPr>
        <p:blipFill>
          <a:blip r:embed="rId2"/>
          <a:srcRect t="5469" b="5469"/>
          <a:stretch>
            <a:fillRect/>
          </a:stretch>
        </p:blipFill>
        <p:spPr>
          <a:xfrm>
            <a:off x="0" y="0"/>
            <a:ext cx="684460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54155" y="1308943"/>
            <a:ext cx="2652117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ФОТОГРАФИИ · 14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3205" y="1575643"/>
            <a:ext cx="4642545" cy="814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7"/>
              </a:lnSpc>
            </a:pPr>
            <a:r>
              <a:rPr sz="25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Автограф на отдельном листе в капсуле, 23×9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5605" y="2437656"/>
            <a:ext cx="1040904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АВТОГРАФ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4655" y="2647206"/>
            <a:ext cx="4471095" cy="8289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76"/>
              </a:lnSpc>
            </a:pPr>
            <a:r>
              <a:rPr sz="128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Отдельный лист с росчерком, запечатанный в капсулу. Самый гибкий предмет подборки: его оформляют в раму рядом с любой фотографией на выбор.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3205" y="3523804"/>
            <a:ext cx="4642545" cy="11894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2"/>
              </a:lnSpc>
            </a:pPr>
            <a:r>
              <a:rPr sz="13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Автограф на отдельном листе, запечатанный в капсулу. Самый доступный предмет подборки и самый гибкий: капсулу можно оформить в раму рядом с любой фотографией на выбор.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4155" y="4789438"/>
            <a:ext cx="1559570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20"/>
              </a:lnSpc>
            </a:pPr>
            <a:r>
              <a:rPr sz="28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750 000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4155" y="5322838"/>
            <a:ext cx="916335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64" y="1317427"/>
            <a:ext cx="5412402" cy="4095601"/>
          </a:xfrm>
          <a:prstGeom prst="rect">
            <a:avLst/>
          </a:prstGeom>
        </p:spPr>
      </p:pic>
      <p:pic>
        <p:nvPicPr>
          <p:cNvPr id="4" name="Picture 3" descr="m0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410" y="1433512"/>
            <a:ext cx="4994762" cy="3863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0550" y="266700"/>
            <a:ext cx="2679204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Как мы отдаём подарок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3217" y="381000"/>
            <a:ext cx="1970633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19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УПАКОВКА STARGIFT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9050" y="5940028"/>
            <a:ext cx="8929241" cy="9751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</a:pPr>
            <a:r>
              <a:rPr sz="109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Каждый предмет уходит в фирменной упаковке дома: крафт-бумага с автографами великих, лента Stargift и плотный подарочный пакет. Оформленную работу привозим и вешаем сами.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0550" y="1485900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15075" y="1485900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0550" y="2135386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15075" y="2135386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0550" y="2592586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15075" y="2592586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0550" y="3242072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15075" y="3242072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0550" y="3891558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15075" y="3891558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0550" y="4541044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5075" y="4541044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0550" y="5190530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15075" y="5190530"/>
            <a:ext cx="5286375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450" y="285750"/>
            <a:ext cx="233362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51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ПОДБОРКА ЦЕЛИКОМ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450" y="485775"/>
            <a:ext cx="2114848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50"/>
              </a:lnSpc>
            </a:pPr>
            <a:r>
              <a:rPr sz="28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14 предметов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450" y="1162050"/>
            <a:ext cx="3135957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«Off The Wall» — конверт с автографом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4590" y="1104900"/>
            <a:ext cx="1252835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4 000 000 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6975" y="1162050"/>
            <a:ext cx="2951559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«Bad» — промо-тираж с автографом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50575" y="1104900"/>
            <a:ext cx="1241375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3 800 000 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1619250"/>
            <a:ext cx="4085779" cy="4875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«Bad» — конверт с именным посвящением и автографом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729" y="1562100"/>
            <a:ext cx="1238696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3 000 000 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6975" y="1619250"/>
            <a:ext cx="3882182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«Thriller» — ранний тираж QE 38112 с автографом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56230" y="1562100"/>
            <a:ext cx="1235720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2 400 000 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2450" y="2268736"/>
            <a:ext cx="4090095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Фотография в белой шляпе с автографом, 28×36 см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6347" y="2211586"/>
            <a:ext cx="1241078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2 000 000 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6975" y="2268736"/>
            <a:ext cx="3587502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Цветная фотография с автографом, 28×36 см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79596" y="2211586"/>
            <a:ext cx="1212354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1 850 000 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" y="2725936"/>
            <a:ext cx="4112121" cy="4875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«Maybe Tomorrow» — первый тираж 1971 года с автографами братьев Джексон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55071" y="2668786"/>
            <a:ext cx="1212354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1 850 000 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6025" y="2725936"/>
            <a:ext cx="4125813" cy="4875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«Thriller» — японское издание инструментальной версии с оби-полосой и автографом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93288" y="2668786"/>
            <a:ext cx="1198662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1 750 000 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3375422"/>
            <a:ext cx="4102150" cy="4875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Фотография в расшитом сценическом костюме с автографом, 19×28 см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5100" y="3318272"/>
            <a:ext cx="1222325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1 600 000 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6025" y="3375422"/>
            <a:ext cx="4118967" cy="4875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Фотография эпохи «Billie Jean» с автографом, 41×51 см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86442" y="3318272"/>
            <a:ext cx="1205508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1 300 000 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2450" y="4024908"/>
            <a:ext cx="4143226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«Farewell My Summer Love» — конверт с автографом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57899" y="3967758"/>
            <a:ext cx="1209526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1 050 000 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6025" y="4024908"/>
            <a:ext cx="4099322" cy="4875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«Got To Be There» — конверт сольного дебюта с автографом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6797" y="3967758"/>
            <a:ext cx="1225153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1 000 000 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" y="4674394"/>
            <a:ext cx="4231481" cy="4875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«Diana Ross Presents The Jackson 5» — конверт с автографом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74431" y="4617244"/>
            <a:ext cx="1092994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900 000 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76975" y="4674394"/>
            <a:ext cx="3896767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Автограф на отдельном листе в капсуле, 23×9 см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22769" y="4617244"/>
            <a:ext cx="1069181" cy="352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750 000 ₽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34100"/>
            <a:ext cx="12192000" cy="9525"/>
          </a:xfrm>
          <a:prstGeom prst="rect">
            <a:avLst/>
          </a:prstGeom>
          <a:solidFill>
            <a:srgbClr val="3A3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864712"/>
            <a:ext cx="1755130" cy="13334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3522018"/>
            <a:ext cx="6454229" cy="15094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761"/>
              </a:lnSpc>
            </a:pPr>
            <a:r>
              <a:rPr sz="33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Майкл Джексон. От первого сингла до последней пластинки с Куинси Джонсом.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" y="6334125"/>
            <a:ext cx="135835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980" b="0" i="0" spc="234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STARGIFT.RU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