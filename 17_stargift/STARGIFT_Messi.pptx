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image" Target="../media/image6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image" Target="../media/image10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image" Target="../media/image12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image" Target="../media/image15.jpg"/><Relationship Id="rId4" Type="http://schemas.openxmlformats.org/officeDocument/2006/relationships/image" Target="../media/image16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Relationship Id="rId3" Type="http://schemas.openxmlformats.org/officeDocument/2006/relationships/image" Target="../media/image19.jpg"/><Relationship Id="rId4" Type="http://schemas.openxmlformats.org/officeDocument/2006/relationships/image" Target="../media/image20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0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0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215509" cy="6858000"/>
          </a:xfrm>
          <a:prstGeom prst="rect">
            <a:avLst/>
          </a:prstGeom>
        </p:spPr>
      </p:pic>
      <p:pic>
        <p:nvPicPr>
          <p:cNvPr id="4" name="Picture 3" descr="m002.jpg"/>
          <p:cNvPicPr>
            <a:picLocks noChangeAspect="1"/>
          </p:cNvPicPr>
          <p:nvPr/>
        </p:nvPicPr>
        <p:blipFill>
          <a:blip r:embed="rId3"/>
          <a:srcRect t="2528" b="11516"/>
          <a:stretch>
            <a:fillRect/>
          </a:stretch>
        </p:blipFill>
        <p:spPr>
          <a:xfrm>
            <a:off x="6215509" y="0"/>
            <a:ext cx="5976491" cy="6858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14350" y="2664023"/>
            <a:ext cx="5205859" cy="1809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25"/>
              </a:lnSpc>
            </a:pPr>
            <a:r>
              <a:rPr sz="819" b="0" i="0" spc="297">
                <a:solidFill>
                  <a:srgbClr val="C9A96A"/>
                </a:solidFill>
                <a:latin typeface="Inter"/>
                <a:latin typeface="Inter"/>
                <a:ea typeface="Inter"/>
                <a:cs typeface="Inter"/>
              </a:rPr>
              <a:t>STARGIFT · КОЛЛЕКЦИЯ АВТОГРАФОВ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4350" y="2978348"/>
            <a:ext cx="5205859" cy="171896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6468"/>
              </a:lnSpc>
            </a:pPr>
            <a:r>
              <a:rPr sz="6600" b="0" i="0">
                <a:solidFill>
                  <a:srgbClr val="F5F1E8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Лионель</a:t>
            </a:r>
          </a:p>
          <a:p>
            <a:pPr algn="l">
              <a:lnSpc>
                <a:spcPts val="6468"/>
              </a:lnSpc>
            </a:pPr>
            <a:r>
              <a:rPr sz="6600" b="0" i="0">
                <a:solidFill>
                  <a:srgbClr val="F5F1E8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Месси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4350" y="4887813"/>
            <a:ext cx="4257824" cy="87763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4"/>
              </a:lnSpc>
            </a:pPr>
            <a:r>
              <a:rPr sz="1280" b="0" i="0">
                <a:solidFill>
                  <a:srgbClr val="B8B2A6"/>
                </a:solidFill>
                <a:latin typeface="Inter"/>
                <a:latin typeface="Inter"/>
                <a:ea typeface="Inter"/>
                <a:cs typeface="Inter"/>
              </a:rPr>
              <a:t>Восемь «Золотых мячей», чемпион мира 2022 года, лучший бомбардир в истории «Барселоны» и сборной Аргентины.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4350" y="6162526"/>
            <a:ext cx="5205859" cy="1809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25"/>
              </a:lnSpc>
            </a:pPr>
            <a:r>
              <a:rPr sz="819" b="0" i="0" spc="198">
                <a:solidFill>
                  <a:srgbClr val="A98545"/>
                </a:solidFill>
                <a:latin typeface="Inter"/>
                <a:latin typeface="Inter"/>
                <a:ea typeface="Inter"/>
                <a:cs typeface="Inter"/>
              </a:rPr>
              <a:t>ВОСЕМЬ ПРЕДМЕТОВ · ИЮЛЬ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77029" y="6619429"/>
            <a:ext cx="1800671" cy="18142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28"/>
              </a:lnSpc>
            </a:pPr>
            <a:r>
              <a:rPr sz="640" b="0" i="0" spc="51">
                <a:solidFill>
                  <a:srgbClr val="F5F1E8"/>
                </a:solidFill>
                <a:latin typeface="Inter"/>
                <a:latin typeface="Inter"/>
                <a:ea typeface="Inter"/>
                <a:cs typeface="Inter"/>
              </a:rPr>
              <a:t>Фото: Wikimedia Commons · CC BY 4.0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0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762625" y="3524101"/>
            <a:ext cx="666750" cy="9525"/>
          </a:xfrm>
          <a:prstGeom prst="rect">
            <a:avLst/>
          </a:prstGeom>
          <a:solidFill>
            <a:srgbClr val="624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68392" y="2085826"/>
            <a:ext cx="1274266" cy="1809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825"/>
              </a:lnSpc>
            </a:pPr>
            <a:r>
              <a:rPr sz="819" b="0" i="0" spc="280">
                <a:solidFill>
                  <a:srgbClr val="C9A96A"/>
                </a:solidFill>
                <a:latin typeface="Inter"/>
                <a:latin typeface="Inter"/>
                <a:ea typeface="Inter"/>
                <a:cs typeface="Inter"/>
              </a:rPr>
              <a:t>ГЛАВА ПЕРВАЯ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58742" y="2438251"/>
            <a:ext cx="3293566" cy="8191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5850"/>
              </a:lnSpc>
            </a:pPr>
            <a:r>
              <a:rPr sz="5850" b="0" i="0">
                <a:solidFill>
                  <a:srgbClr val="F5F1E8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Аргентина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571875" y="3838426"/>
            <a:ext cx="5067300" cy="9718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351"/>
              </a:lnSpc>
            </a:pPr>
            <a:r>
              <a:rPr sz="1420" b="0" i="0">
                <a:solidFill>
                  <a:srgbClr val="C9C3B7"/>
                </a:solidFill>
                <a:latin typeface="Inter"/>
                <a:latin typeface="Inter"/>
                <a:ea typeface="Inter"/>
                <a:cs typeface="Inter"/>
              </a:rPr>
              <a:t>Сборная, с которой Месси прошёл путь от первого вызова до золота чемпионата мира: футболка, мяч, бутса и кубок.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00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0912" y="361950"/>
            <a:ext cx="3206626" cy="3847951"/>
          </a:xfrm>
          <a:prstGeom prst="rect">
            <a:avLst/>
          </a:prstGeom>
        </p:spPr>
      </p:pic>
      <p:pic>
        <p:nvPicPr>
          <p:cNvPr id="4" name="Picture 3" descr="m004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3725" y="361950"/>
            <a:ext cx="3848100" cy="38481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828502" y="4343400"/>
            <a:ext cx="3010346" cy="8905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138"/>
              </a:lnSpc>
            </a:pPr>
            <a:r>
              <a:rPr sz="1880" b="0" i="0">
                <a:solidFill>
                  <a:srgbClr val="1A1A1A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Лионель Месси — именная футболка сборной Аргентины с автографом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07740" y="5253038"/>
            <a:ext cx="4251871" cy="99119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802"/>
              </a:lnSpc>
            </a:pPr>
            <a:r>
              <a:rPr sz="1160" b="0" i="0">
                <a:solidFill>
                  <a:srgbClr val="4A4A4A"/>
                </a:solidFill>
                <a:latin typeface="Inter"/>
                <a:latin typeface="Inter"/>
                <a:ea typeface="Inter"/>
                <a:cs typeface="Inter"/>
              </a:rPr>
              <a:t>За сборную Аргентины Месси провёл больше матчей и забил больше голов, чем любой другой игрок в её истории. Именная домашняя футболка с номером 10 и фамилией MESSI.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67025" y="6282333"/>
            <a:ext cx="933301" cy="3619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250"/>
              </a:lnSpc>
            </a:pPr>
            <a:r>
              <a:rPr sz="1880" b="0" i="0">
                <a:solidFill>
                  <a:srgbClr val="A98545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650 000 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35945" y="6644283"/>
            <a:ext cx="595610" cy="1666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712"/>
              </a:lnSpc>
            </a:pPr>
            <a:r>
              <a:rPr sz="710" b="0" i="0" spc="142">
                <a:solidFill>
                  <a:srgbClr val="9A958C"/>
                </a:solidFill>
                <a:latin typeface="Inter"/>
                <a:latin typeface="Inter"/>
                <a:ea typeface="Inter"/>
                <a:cs typeface="Inter"/>
              </a:rPr>
              <a:t>BECKETT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72052" y="4343400"/>
            <a:ext cx="3010346" cy="8905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138"/>
              </a:lnSpc>
            </a:pPr>
            <a:r>
              <a:rPr sz="1880" b="0" i="0">
                <a:solidFill>
                  <a:srgbClr val="1A1A1A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Лионель Месси — мяч чемпионата мира 2022 с автографом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51290" y="5253038"/>
            <a:ext cx="4251871" cy="99119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802"/>
              </a:lnSpc>
            </a:pPr>
            <a:r>
              <a:rPr sz="1160" b="0" i="0">
                <a:solidFill>
                  <a:srgbClr val="4A4A4A"/>
                </a:solidFill>
                <a:latin typeface="Inter"/>
                <a:latin typeface="Inter"/>
                <a:ea typeface="Inter"/>
                <a:cs typeface="Inter"/>
              </a:rPr>
              <a:t>Катар‑2022 — турнир, на котором Аргентина взяла золото, а Месси был признан лучшим игроком. Официальный мяч того чемпионата мира с его автографом.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0575" y="6282333"/>
            <a:ext cx="933301" cy="3619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250"/>
              </a:lnSpc>
            </a:pPr>
            <a:r>
              <a:rPr sz="1880" b="0" i="0">
                <a:solidFill>
                  <a:srgbClr val="A98545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950 000 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79495" y="6644283"/>
            <a:ext cx="595610" cy="1666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712"/>
              </a:lnSpc>
            </a:pPr>
            <a:r>
              <a:rPr sz="710" b="0" i="0" spc="142">
                <a:solidFill>
                  <a:srgbClr val="9A958C"/>
                </a:solidFill>
                <a:latin typeface="Inter"/>
                <a:latin typeface="Inter"/>
                <a:ea typeface="Inter"/>
                <a:cs typeface="Inter"/>
              </a:rPr>
              <a:t>BECKETT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977658" y="979289"/>
            <a:ext cx="4642842" cy="9525"/>
          </a:xfrm>
          <a:prstGeom prst="rect">
            <a:avLst/>
          </a:prstGeom>
          <a:solidFill>
            <a:srgbClr val="E6E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977658" y="3217664"/>
            <a:ext cx="4642842" cy="9525"/>
          </a:xfrm>
          <a:prstGeom prst="rect">
            <a:avLst/>
          </a:prstGeom>
          <a:solidFill>
            <a:srgbClr val="E6E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977658" y="979289"/>
            <a:ext cx="9525" cy="2247900"/>
          </a:xfrm>
          <a:prstGeom prst="rect">
            <a:avLst/>
          </a:prstGeom>
          <a:solidFill>
            <a:srgbClr val="E6E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610975" y="979289"/>
            <a:ext cx="9525" cy="2247900"/>
          </a:xfrm>
          <a:prstGeom prst="rect">
            <a:avLst/>
          </a:prstGeom>
          <a:solidFill>
            <a:srgbClr val="E6E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m00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43" y="1346895"/>
            <a:ext cx="5948873" cy="4164211"/>
          </a:xfrm>
          <a:prstGeom prst="rect">
            <a:avLst/>
          </a:prstGeom>
        </p:spPr>
      </p:pic>
      <p:pic>
        <p:nvPicPr>
          <p:cNvPr id="8" name="Picture 7" descr="m006.jpg"/>
          <p:cNvPicPr>
            <a:picLocks noChangeAspect="1"/>
          </p:cNvPicPr>
          <p:nvPr/>
        </p:nvPicPr>
        <p:blipFill>
          <a:blip r:embed="rId3"/>
          <a:srcRect l="4819" r="4819"/>
          <a:stretch>
            <a:fillRect/>
          </a:stretch>
        </p:blipFill>
        <p:spPr>
          <a:xfrm>
            <a:off x="6977658" y="979289"/>
            <a:ext cx="4642842" cy="22479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958608" y="3293864"/>
            <a:ext cx="4699992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0"/>
              </a:lnSpc>
            </a:pPr>
            <a:r>
              <a:rPr sz="750" b="0" i="0" spc="120">
                <a:solidFill>
                  <a:srgbClr val="A09A90"/>
                </a:solidFill>
                <a:latin typeface="Inter"/>
                <a:latin typeface="Inter"/>
                <a:ea typeface="Inter"/>
                <a:cs typeface="Inter"/>
              </a:rPr>
              <a:t>АВТОГРАФ КРУПНО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58608" y="3655814"/>
            <a:ext cx="4699992" cy="72568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58"/>
              </a:lnSpc>
            </a:pPr>
            <a:r>
              <a:rPr sz="2320" b="0" i="0">
                <a:solidFill>
                  <a:srgbClr val="1A1A1A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Лионель Месси — бутса с автографом (Аргентина)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58608" y="4419600"/>
            <a:ext cx="4699992" cy="8303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80"/>
              </a:lnSpc>
            </a:pPr>
            <a:r>
              <a:rPr sz="1240" b="0" i="0">
                <a:solidFill>
                  <a:srgbClr val="4A4A4A"/>
                </a:solidFill>
                <a:latin typeface="Inter"/>
                <a:latin typeface="Inter"/>
                <a:ea typeface="Inter"/>
                <a:cs typeface="Inter"/>
              </a:rPr>
              <a:t>Бутса — вещь личного обихода игрока, она ближе к нему, чем любая футболка. Оранжевая adidas в цветах эпохи сборной Аргентины.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58608" y="5326112"/>
            <a:ext cx="4699992" cy="4286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00"/>
              </a:lnSpc>
            </a:pPr>
            <a:r>
              <a:rPr sz="2250" b="0" i="0">
                <a:solidFill>
                  <a:srgbClr val="A98545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600 000 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58608" y="5764262"/>
            <a:ext cx="4699992" cy="171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750"/>
              </a:lnSpc>
            </a:pPr>
            <a:r>
              <a:rPr sz="750" b="0" i="0" spc="165">
                <a:solidFill>
                  <a:srgbClr val="9A958C"/>
                </a:solidFill>
                <a:latin typeface="Inter"/>
                <a:latin typeface="Inter"/>
                <a:ea typeface="Inter"/>
                <a:cs typeface="Inter"/>
              </a:rPr>
              <a:t>BECKETT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0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13599" y="4278362"/>
            <a:ext cx="5187851" cy="9525"/>
          </a:xfrm>
          <a:prstGeom prst="rect">
            <a:avLst/>
          </a:prstGeom>
          <a:solidFill>
            <a:srgbClr val="423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007.jpg"/>
          <p:cNvPicPr>
            <a:picLocks noChangeAspect="1"/>
          </p:cNvPicPr>
          <p:nvPr/>
        </p:nvPicPr>
        <p:blipFill>
          <a:blip r:embed="rId2"/>
          <a:srcRect t="5498" b="7593"/>
          <a:stretch>
            <a:fillRect/>
          </a:stretch>
        </p:blipFill>
        <p:spPr>
          <a:xfrm>
            <a:off x="0" y="0"/>
            <a:ext cx="5918299" cy="6858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394549" y="1617613"/>
            <a:ext cx="5245001" cy="1809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25"/>
              </a:lnSpc>
            </a:pPr>
            <a:r>
              <a:rPr sz="819" b="0" i="0" spc="297">
                <a:solidFill>
                  <a:srgbClr val="C9A96A"/>
                </a:solidFill>
                <a:latin typeface="Inter"/>
                <a:latin typeface="Inter"/>
                <a:ea typeface="Inter"/>
                <a:cs typeface="Inter"/>
              </a:rPr>
              <a:t>АРГЕНТИНА · ЦЕНТРАЛЬНЫЙ ЭКСПОНАТ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94549" y="1893838"/>
            <a:ext cx="5245001" cy="8837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180"/>
              </a:lnSpc>
            </a:pPr>
            <a:r>
              <a:rPr sz="3000" b="0" i="0">
                <a:solidFill>
                  <a:srgbClr val="F5F1E8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Лионель Месси — реплика кубка чемпионата мира с автографом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94549" y="2910929"/>
            <a:ext cx="4257824" cy="117693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7"/>
              </a:lnSpc>
            </a:pPr>
            <a:r>
              <a:rPr sz="1280" b="0" i="0">
                <a:solidFill>
                  <a:srgbClr val="C3BDB1"/>
                </a:solidFill>
                <a:latin typeface="Inter"/>
                <a:latin typeface="Inter"/>
                <a:ea typeface="Inter"/>
                <a:cs typeface="Inter"/>
              </a:rPr>
              <a:t>В декабре 2022 года Месси поднял над головой кубок мира — единственный трофей, которого не хватало в его карьере. Полноразмерная реплика кубка FIFA с автографом.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94549" y="4516487"/>
            <a:ext cx="5245001" cy="533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00"/>
              </a:lnSpc>
            </a:pPr>
            <a:r>
              <a:rPr sz="3000" b="0" i="0">
                <a:solidFill>
                  <a:srgbClr val="C9A96A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1 000 000 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94549" y="5107037"/>
            <a:ext cx="5245001" cy="171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750"/>
              </a:lnSpc>
            </a:pPr>
            <a:r>
              <a:rPr sz="750" b="0" i="0" spc="165">
                <a:solidFill>
                  <a:srgbClr val="9A958C"/>
                </a:solidFill>
                <a:latin typeface="Inter"/>
                <a:latin typeface="Inter"/>
                <a:ea typeface="Inter"/>
                <a:cs typeface="Inter"/>
              </a:rPr>
              <a:t>BECKETT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0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71500" y="3514576"/>
            <a:ext cx="666750" cy="9525"/>
          </a:xfrm>
          <a:prstGeom prst="rect">
            <a:avLst/>
          </a:prstGeom>
          <a:solidFill>
            <a:srgbClr val="624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0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52450" y="2114401"/>
            <a:ext cx="11106150" cy="1809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25"/>
              </a:lnSpc>
            </a:pPr>
            <a:r>
              <a:rPr sz="819" b="0" i="0" spc="280">
                <a:solidFill>
                  <a:srgbClr val="C9A96A"/>
                </a:solidFill>
                <a:latin typeface="Inter"/>
                <a:latin typeface="Inter"/>
                <a:ea typeface="Inter"/>
                <a:cs typeface="Inter"/>
              </a:rPr>
              <a:t>ГЛАВА ВТОРАЯ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2450" y="2447776"/>
            <a:ext cx="11106150" cy="8191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850"/>
              </a:lnSpc>
            </a:pPr>
            <a:r>
              <a:rPr sz="5850" b="0" i="0">
                <a:solidFill>
                  <a:srgbClr val="F5F1E8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Барселона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2450" y="3809851"/>
            <a:ext cx="4975622" cy="9718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51"/>
              </a:lnSpc>
            </a:pPr>
            <a:r>
              <a:rPr sz="1420" b="0" i="0">
                <a:solidFill>
                  <a:srgbClr val="C9C3B7"/>
                </a:solidFill>
                <a:latin typeface="Inter"/>
                <a:latin typeface="Inter"/>
                <a:ea typeface="Inter"/>
                <a:cs typeface="Inter"/>
              </a:rPr>
              <a:t>Клуб, в котором он вырос и стал лучшим бомбардиром в его истории: гостевая футболка эпохи Гвардиолы, бутса adidas и мяч.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20759" y="6619429"/>
            <a:ext cx="1956941" cy="18142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28"/>
              </a:lnSpc>
            </a:pPr>
            <a:r>
              <a:rPr sz="640" b="0" i="0" spc="51">
                <a:solidFill>
                  <a:srgbClr val="F5F1E8"/>
                </a:solidFill>
                <a:latin typeface="Inter"/>
                <a:latin typeface="Inter"/>
                <a:ea typeface="Inter"/>
                <a:cs typeface="Inter"/>
              </a:rPr>
              <a:t>Фото: Wikimedia Commons · CC BY‑SA 4.0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00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0175" y="361950"/>
            <a:ext cx="3848100" cy="3848100"/>
          </a:xfrm>
          <a:prstGeom prst="rect">
            <a:avLst/>
          </a:prstGeom>
        </p:spPr>
      </p:pic>
      <p:pic>
        <p:nvPicPr>
          <p:cNvPr id="4" name="Picture 3" descr="m01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5593" y="492472"/>
            <a:ext cx="5124365" cy="358705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828502" y="4343400"/>
            <a:ext cx="3010346" cy="8905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138"/>
              </a:lnSpc>
            </a:pPr>
            <a:r>
              <a:rPr sz="1880" b="0" i="0">
                <a:solidFill>
                  <a:srgbClr val="1A1A1A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Лионель Месси — футболка «Барселоны» 2008‑10 с автографом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07740" y="5253038"/>
            <a:ext cx="4251871" cy="76244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802"/>
              </a:lnSpc>
            </a:pPr>
            <a:r>
              <a:rPr sz="1160" b="0" i="0">
                <a:solidFill>
                  <a:srgbClr val="4A4A4A"/>
                </a:solidFill>
                <a:latin typeface="Inter"/>
                <a:latin typeface="Inter"/>
                <a:ea typeface="Inter"/>
                <a:cs typeface="Inter"/>
              </a:rPr>
              <a:t>Сезоны 2008–2010 — команда Гвардиолы и первые «Золотые мячи» Месси. Гостевая жёлтая футболка той эпохи, автограф серебряным маркером.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67025" y="6053584"/>
            <a:ext cx="933301" cy="3619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250"/>
              </a:lnSpc>
            </a:pPr>
            <a:r>
              <a:rPr sz="1880" b="0" i="0">
                <a:solidFill>
                  <a:srgbClr val="A98545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650 000 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72052" y="4343400"/>
            <a:ext cx="3010346" cy="8905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138"/>
              </a:lnSpc>
            </a:pPr>
            <a:r>
              <a:rPr sz="1880" b="0" i="0">
                <a:solidFill>
                  <a:srgbClr val="1A1A1A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Лионель Месси — бутса Adidas с автографом («Барселона»)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51290" y="5253038"/>
            <a:ext cx="4251871" cy="99119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802"/>
              </a:lnSpc>
            </a:pPr>
            <a:r>
              <a:rPr sz="1160" b="0" i="0">
                <a:solidFill>
                  <a:srgbClr val="4A4A4A"/>
                </a:solidFill>
                <a:latin typeface="Inter"/>
                <a:latin typeface="Inter"/>
                <a:ea typeface="Inter"/>
                <a:cs typeface="Inter"/>
              </a:rPr>
              <a:t>В бутсах adidas F‑серии Месси играл в годы, когда «Барселона» собирала все возможные трофеи. Левая бутса, чёрная с синими полосами, автограф золотым маркером.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02538" y="6282333"/>
            <a:ext cx="949523" cy="3619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250"/>
              </a:lnSpc>
            </a:pPr>
            <a:r>
              <a:rPr sz="1880" b="0" i="0">
                <a:solidFill>
                  <a:srgbClr val="A98545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600 000 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79495" y="6644283"/>
            <a:ext cx="595610" cy="1666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712"/>
              </a:lnSpc>
            </a:pPr>
            <a:r>
              <a:rPr sz="710" b="0" i="0" spc="142">
                <a:solidFill>
                  <a:srgbClr val="9A958C"/>
                </a:solidFill>
                <a:latin typeface="Inter"/>
                <a:latin typeface="Inter"/>
                <a:ea typeface="Inter"/>
                <a:cs typeface="Inter"/>
              </a:rPr>
              <a:t>BECKETT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977658" y="1232148"/>
            <a:ext cx="4642842" cy="9525"/>
          </a:xfrm>
          <a:prstGeom prst="rect">
            <a:avLst/>
          </a:prstGeom>
          <a:solidFill>
            <a:srgbClr val="E6E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977658" y="3470523"/>
            <a:ext cx="4642842" cy="9525"/>
          </a:xfrm>
          <a:prstGeom prst="rect">
            <a:avLst/>
          </a:prstGeom>
          <a:solidFill>
            <a:srgbClr val="E6E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977658" y="1232148"/>
            <a:ext cx="9525" cy="2247900"/>
          </a:xfrm>
          <a:prstGeom prst="rect">
            <a:avLst/>
          </a:prstGeom>
          <a:solidFill>
            <a:srgbClr val="E6E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610975" y="1232148"/>
            <a:ext cx="9525" cy="2247900"/>
          </a:xfrm>
          <a:prstGeom prst="rect">
            <a:avLst/>
          </a:prstGeom>
          <a:solidFill>
            <a:srgbClr val="E6E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m01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8479" y="571500"/>
            <a:ext cx="5715000" cy="5715000"/>
          </a:xfrm>
          <a:prstGeom prst="rect">
            <a:avLst/>
          </a:prstGeom>
        </p:spPr>
      </p:pic>
      <p:pic>
        <p:nvPicPr>
          <p:cNvPr id="8" name="Picture 7" descr="m012.jpg"/>
          <p:cNvPicPr>
            <a:picLocks noChangeAspect="1"/>
          </p:cNvPicPr>
          <p:nvPr/>
        </p:nvPicPr>
        <p:blipFill>
          <a:blip r:embed="rId3"/>
          <a:srcRect t="5387" b="6324"/>
          <a:stretch>
            <a:fillRect/>
          </a:stretch>
        </p:blipFill>
        <p:spPr>
          <a:xfrm>
            <a:off x="6977658" y="1232148"/>
            <a:ext cx="4642842" cy="22479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958608" y="3546723"/>
            <a:ext cx="4699992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0"/>
              </a:lnSpc>
            </a:pPr>
            <a:r>
              <a:rPr sz="750" b="0" i="0" spc="120">
                <a:solidFill>
                  <a:srgbClr val="A09A90"/>
                </a:solidFill>
                <a:latin typeface="Inter"/>
                <a:latin typeface="Inter"/>
                <a:ea typeface="Inter"/>
                <a:cs typeface="Inter"/>
              </a:rPr>
              <a:t>АВТОГРАФ КРУПНО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58608" y="3908673"/>
            <a:ext cx="4699992" cy="4009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58"/>
              </a:lnSpc>
            </a:pPr>
            <a:r>
              <a:rPr sz="2320" b="0" i="0">
                <a:solidFill>
                  <a:srgbClr val="1A1A1A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Лионель Месси — мяч с автографом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58608" y="4347716"/>
            <a:ext cx="4699992" cy="8303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80"/>
              </a:lnSpc>
            </a:pPr>
            <a:r>
              <a:rPr sz="1240" b="0" i="0">
                <a:solidFill>
                  <a:srgbClr val="4A4A4A"/>
                </a:solidFill>
                <a:latin typeface="Inter"/>
                <a:latin typeface="Inter"/>
                <a:ea typeface="Inter"/>
                <a:cs typeface="Inter"/>
              </a:rPr>
              <a:t>Мяч — самый узнаваемый носитель футбольного автографа: подпись читается с любой точки комнаты. Классический музейный формат подачи автографа.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58608" y="5254228"/>
            <a:ext cx="4699992" cy="4286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00"/>
              </a:lnSpc>
            </a:pPr>
            <a:r>
              <a:rPr sz="2250" b="0" i="0">
                <a:solidFill>
                  <a:srgbClr val="A98545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600 000 ₽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0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71500" y="3476476"/>
            <a:ext cx="666750" cy="9525"/>
          </a:xfrm>
          <a:prstGeom prst="rect">
            <a:avLst/>
          </a:prstGeom>
          <a:solidFill>
            <a:srgbClr val="624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0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52450" y="2152501"/>
            <a:ext cx="11106150" cy="1809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25"/>
              </a:lnSpc>
            </a:pPr>
            <a:r>
              <a:rPr sz="819" b="0" i="0" spc="280">
                <a:solidFill>
                  <a:srgbClr val="C9A96A"/>
                </a:solidFill>
                <a:latin typeface="Inter"/>
                <a:latin typeface="Inter"/>
                <a:ea typeface="Inter"/>
                <a:cs typeface="Inter"/>
              </a:rPr>
              <a:t>ГЛАВА ТРЕТЬЯ · ТОП‑ЛОТ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2450" y="2485876"/>
            <a:ext cx="11106150" cy="7429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250"/>
              </a:lnSpc>
            </a:pPr>
            <a:r>
              <a:rPr sz="5250" b="0" i="0">
                <a:solidFill>
                  <a:srgbClr val="F5F1E8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«Барселона» 2009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2450" y="3771751"/>
            <a:ext cx="4975622" cy="9718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51"/>
              </a:lnSpc>
            </a:pPr>
            <a:r>
              <a:rPr sz="1420" b="0" i="0">
                <a:solidFill>
                  <a:srgbClr val="C9C3B7"/>
                </a:solidFill>
                <a:latin typeface="Inter"/>
                <a:latin typeface="Inter"/>
                <a:ea typeface="Inter"/>
                <a:cs typeface="Inter"/>
              </a:rPr>
              <a:t>Один предмет, на котором собраны автографы состава, взявшего Суперкубок УЕФА и клубный чемпионат мира.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15475" y="6619429"/>
            <a:ext cx="2562225" cy="18142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28"/>
              </a:lnSpc>
            </a:pPr>
            <a:r>
              <a:rPr sz="640" b="0" i="0" spc="51">
                <a:solidFill>
                  <a:srgbClr val="F5F1E8"/>
                </a:solidFill>
                <a:latin typeface="Inter"/>
                <a:latin typeface="Inter"/>
                <a:ea typeface="Inter"/>
                <a:cs typeface="Inter"/>
              </a:rPr>
              <a:t>Фото: Eva Perales · Wikimedia Commons · CC BY‑SA 2.0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127230" y="323850"/>
            <a:ext cx="4531370" cy="9525"/>
          </a:xfrm>
          <a:prstGeom prst="rect">
            <a:avLst/>
          </a:prstGeom>
          <a:solidFill>
            <a:srgbClr val="E6E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127230" y="1952625"/>
            <a:ext cx="4531370" cy="9525"/>
          </a:xfrm>
          <a:prstGeom prst="rect">
            <a:avLst/>
          </a:prstGeom>
          <a:solidFill>
            <a:srgbClr val="E6E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127230" y="323850"/>
            <a:ext cx="9525" cy="1638300"/>
          </a:xfrm>
          <a:prstGeom prst="rect">
            <a:avLst/>
          </a:prstGeom>
          <a:solidFill>
            <a:srgbClr val="E6E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649075" y="323850"/>
            <a:ext cx="9525" cy="1638300"/>
          </a:xfrm>
          <a:prstGeom prst="rect">
            <a:avLst/>
          </a:prstGeom>
          <a:solidFill>
            <a:srgbClr val="E6E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127230" y="2085975"/>
            <a:ext cx="4531370" cy="9525"/>
          </a:xfrm>
          <a:prstGeom prst="rect">
            <a:avLst/>
          </a:prstGeom>
          <a:solidFill>
            <a:srgbClr val="E6E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127230" y="3714750"/>
            <a:ext cx="4531370" cy="9525"/>
          </a:xfrm>
          <a:prstGeom prst="rect">
            <a:avLst/>
          </a:prstGeom>
          <a:solidFill>
            <a:srgbClr val="E6E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127230" y="2085975"/>
            <a:ext cx="9525" cy="1638300"/>
          </a:xfrm>
          <a:prstGeom prst="rect">
            <a:avLst/>
          </a:prstGeom>
          <a:solidFill>
            <a:srgbClr val="E6E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649075" y="2085975"/>
            <a:ext cx="9525" cy="1638300"/>
          </a:xfrm>
          <a:prstGeom prst="rect">
            <a:avLst/>
          </a:prstGeom>
          <a:solidFill>
            <a:srgbClr val="E6E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m01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2294" y="381000"/>
            <a:ext cx="6034893" cy="6095851"/>
          </a:xfrm>
          <a:prstGeom prst="rect">
            <a:avLst/>
          </a:prstGeom>
        </p:spPr>
      </p:pic>
      <p:pic>
        <p:nvPicPr>
          <p:cNvPr id="12" name="Picture 11" descr="m015.jpg"/>
          <p:cNvPicPr>
            <a:picLocks noChangeAspect="1"/>
          </p:cNvPicPr>
          <p:nvPr/>
        </p:nvPicPr>
        <p:blipFill>
          <a:blip r:embed="rId3"/>
          <a:srcRect t="20213" b="27913"/>
          <a:stretch>
            <a:fillRect/>
          </a:stretch>
        </p:blipFill>
        <p:spPr>
          <a:xfrm>
            <a:off x="7127230" y="323850"/>
            <a:ext cx="4531370" cy="1638300"/>
          </a:xfrm>
          <a:prstGeom prst="rect">
            <a:avLst/>
          </a:prstGeom>
        </p:spPr>
      </p:pic>
      <p:pic>
        <p:nvPicPr>
          <p:cNvPr id="13" name="Picture 12" descr="m016.jpg"/>
          <p:cNvPicPr>
            <a:picLocks noChangeAspect="1"/>
          </p:cNvPicPr>
          <p:nvPr/>
        </p:nvPicPr>
        <p:blipFill>
          <a:blip r:embed="rId4"/>
          <a:srcRect t="18693" b="25814"/>
          <a:stretch>
            <a:fillRect/>
          </a:stretch>
        </p:blipFill>
        <p:spPr>
          <a:xfrm>
            <a:off x="7127230" y="2085975"/>
            <a:ext cx="4531370" cy="16383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108180" y="3886200"/>
            <a:ext cx="4588520" cy="66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10"/>
              </a:lnSpc>
            </a:pPr>
            <a:r>
              <a:rPr sz="2100" b="0" i="0">
                <a:solidFill>
                  <a:srgbClr val="1A1A1A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«Барселона» 2009 — командный мяч с 15+ автографами (Месси, Хави, Иньеста)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08180" y="4577655"/>
            <a:ext cx="4588520" cy="53369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2"/>
              </a:lnSpc>
            </a:pPr>
            <a:r>
              <a:rPr sz="1160" b="0" i="0">
                <a:solidFill>
                  <a:srgbClr val="4A4A4A"/>
                </a:solidFill>
                <a:latin typeface="Inter"/>
                <a:latin typeface="Inter"/>
                <a:ea typeface="Inter"/>
                <a:cs typeface="Inter"/>
              </a:rPr>
              <a:t>Мяч adidas UEFA Super Cup, матч в Монако. Топ‑лот подборки — командная реликвия того сезона.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08180" y="5168503"/>
            <a:ext cx="4588520" cy="4286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00"/>
              </a:lnSpc>
            </a:pPr>
            <a:r>
              <a:rPr sz="2250" b="0" i="0">
                <a:solidFill>
                  <a:srgbClr val="A98545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2 400 000 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08180" y="5597128"/>
            <a:ext cx="4588520" cy="171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750"/>
              </a:lnSpc>
            </a:pPr>
            <a:r>
              <a:rPr sz="750" b="0" i="0" spc="165">
                <a:solidFill>
                  <a:srgbClr val="9A958C"/>
                </a:solidFill>
                <a:latin typeface="Inter"/>
                <a:latin typeface="Inter"/>
                <a:ea typeface="Inter"/>
                <a:cs typeface="Inter"/>
              </a:rPr>
              <a:t>JSA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017.jpg"/>
          <p:cNvPicPr>
            <a:picLocks noChangeAspect="1"/>
          </p:cNvPicPr>
          <p:nvPr/>
        </p:nvPicPr>
        <p:blipFill>
          <a:blip r:embed="rId2"/>
          <a:srcRect l="16838" r="16838"/>
          <a:stretch>
            <a:fillRect/>
          </a:stretch>
        </p:blipFill>
        <p:spPr>
          <a:xfrm>
            <a:off x="0" y="0"/>
            <a:ext cx="6035576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245126" y="1414760"/>
            <a:ext cx="5451574" cy="1809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25"/>
              </a:lnSpc>
            </a:pPr>
            <a:r>
              <a:rPr sz="819" b="0" i="0" spc="297">
                <a:solidFill>
                  <a:srgbClr val="A98545"/>
                </a:solidFill>
                <a:latin typeface="Inter"/>
                <a:latin typeface="Inter"/>
                <a:ea typeface="Inter"/>
                <a:cs typeface="Inter"/>
              </a:rPr>
              <a:t>КТО ПОДПИСАЛ МЯЧ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45126" y="1690985"/>
            <a:ext cx="5451574" cy="8432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21"/>
              </a:lnSpc>
            </a:pPr>
            <a:r>
              <a:rPr sz="2850" b="0" i="0">
                <a:solidFill>
                  <a:srgbClr val="1A1A1A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Состав, взявший Суперкубок УЕФА и клубный чемпионат мира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5126" y="2667595"/>
            <a:ext cx="2592437" cy="21660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51"/>
              </a:lnSpc>
            </a:pPr>
            <a:r>
              <a:rPr sz="1240" b="0" i="0">
                <a:solidFill>
                  <a:srgbClr val="4A4A4A"/>
                </a:solidFill>
                <a:latin typeface="Inter"/>
                <a:latin typeface="Inter"/>
                <a:ea typeface="Inter"/>
                <a:cs typeface="Inter"/>
              </a:rPr>
              <a:t>Лионель Месси</a:t>
            </a:r>
          </a:p>
          <a:p>
            <a:pPr algn="l">
              <a:lnSpc>
                <a:spcPts val="2351"/>
              </a:lnSpc>
            </a:pPr>
            <a:r>
              <a:rPr sz="1240" b="0" i="0">
                <a:solidFill>
                  <a:srgbClr val="4A4A4A"/>
                </a:solidFill>
                <a:latin typeface="Inter"/>
                <a:latin typeface="Inter"/>
                <a:ea typeface="Inter"/>
                <a:cs typeface="Inter"/>
              </a:rPr>
              <a:t>Андрес Иньеста</a:t>
            </a:r>
          </a:p>
          <a:p>
            <a:pPr algn="l">
              <a:lnSpc>
                <a:spcPts val="2351"/>
              </a:lnSpc>
            </a:pPr>
            <a:r>
              <a:rPr sz="1240" b="0" i="0">
                <a:solidFill>
                  <a:srgbClr val="4A4A4A"/>
                </a:solidFill>
                <a:latin typeface="Inter"/>
                <a:latin typeface="Inter"/>
                <a:ea typeface="Inter"/>
                <a:cs typeface="Inter"/>
              </a:rPr>
              <a:t>Хави</a:t>
            </a:r>
          </a:p>
          <a:p>
            <a:pPr algn="l">
              <a:lnSpc>
                <a:spcPts val="2351"/>
              </a:lnSpc>
            </a:pPr>
            <a:r>
              <a:rPr sz="1240" b="0" i="0">
                <a:solidFill>
                  <a:srgbClr val="4A4A4A"/>
                </a:solidFill>
                <a:latin typeface="Inter"/>
                <a:latin typeface="Inter"/>
                <a:ea typeface="Inter"/>
                <a:cs typeface="Inter"/>
              </a:rPr>
              <a:t>Жерар Пике</a:t>
            </a:r>
          </a:p>
          <a:p>
            <a:pPr algn="l">
              <a:lnSpc>
                <a:spcPts val="2351"/>
              </a:lnSpc>
            </a:pPr>
            <a:r>
              <a:rPr sz="1240" b="0" i="0">
                <a:solidFill>
                  <a:srgbClr val="4A4A4A"/>
                </a:solidFill>
                <a:latin typeface="Inter"/>
                <a:latin typeface="Inter"/>
                <a:ea typeface="Inter"/>
                <a:cs typeface="Inter"/>
              </a:rPr>
              <a:t>Серхио Бускетс</a:t>
            </a:r>
          </a:p>
          <a:p>
            <a:pPr algn="l">
              <a:lnSpc>
                <a:spcPts val="2351"/>
              </a:lnSpc>
            </a:pPr>
            <a:r>
              <a:rPr sz="1240" b="0" i="0">
                <a:solidFill>
                  <a:srgbClr val="4A4A4A"/>
                </a:solidFill>
                <a:latin typeface="Inter"/>
                <a:latin typeface="Inter"/>
                <a:ea typeface="Inter"/>
                <a:cs typeface="Inter"/>
              </a:rPr>
              <a:t>Самюэль Это’О</a:t>
            </a:r>
          </a:p>
          <a:p>
            <a:pPr algn="l">
              <a:lnSpc>
                <a:spcPts val="2351"/>
              </a:lnSpc>
            </a:pPr>
            <a:r>
              <a:rPr sz="1240" b="0" i="0">
                <a:solidFill>
                  <a:srgbClr val="4A4A4A"/>
                </a:solidFill>
                <a:latin typeface="Inter"/>
                <a:latin typeface="Inter"/>
                <a:ea typeface="Inter"/>
                <a:cs typeface="Inter"/>
              </a:rPr>
              <a:t>Дани Алвес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04263" y="2667595"/>
            <a:ext cx="2592437" cy="21660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51"/>
              </a:lnSpc>
            </a:pPr>
            <a:r>
              <a:rPr sz="1240" b="0" i="0">
                <a:solidFill>
                  <a:srgbClr val="4A4A4A"/>
                </a:solidFill>
                <a:latin typeface="Inter"/>
                <a:latin typeface="Inter"/>
                <a:ea typeface="Inter"/>
                <a:cs typeface="Inter"/>
              </a:rPr>
              <a:t>Рафаэль Маркес</a:t>
            </a:r>
          </a:p>
          <a:p>
            <a:pPr algn="l">
              <a:lnSpc>
                <a:spcPts val="2351"/>
              </a:lnSpc>
            </a:pPr>
            <a:r>
              <a:rPr sz="1240" b="0" i="0">
                <a:solidFill>
                  <a:srgbClr val="4A4A4A"/>
                </a:solidFill>
                <a:latin typeface="Inter"/>
                <a:latin typeface="Inter"/>
                <a:ea typeface="Inter"/>
                <a:cs typeface="Inter"/>
              </a:rPr>
              <a:t>Педро</a:t>
            </a:r>
          </a:p>
          <a:p>
            <a:pPr algn="l">
              <a:lnSpc>
                <a:spcPts val="2351"/>
              </a:lnSpc>
            </a:pPr>
            <a:r>
              <a:rPr sz="1240" b="0" i="0">
                <a:solidFill>
                  <a:srgbClr val="4A4A4A"/>
                </a:solidFill>
                <a:latin typeface="Inter"/>
                <a:latin typeface="Inter"/>
                <a:ea typeface="Inter"/>
                <a:cs typeface="Inter"/>
              </a:rPr>
              <a:t>Сейду Кейта</a:t>
            </a:r>
          </a:p>
          <a:p>
            <a:pPr algn="l">
              <a:lnSpc>
                <a:spcPts val="2351"/>
              </a:lnSpc>
            </a:pPr>
            <a:r>
              <a:rPr sz="1240" b="0" i="0">
                <a:solidFill>
                  <a:srgbClr val="4A4A4A"/>
                </a:solidFill>
                <a:latin typeface="Inter"/>
                <a:latin typeface="Inter"/>
                <a:ea typeface="Inter"/>
                <a:cs typeface="Inter"/>
              </a:rPr>
              <a:t>Максвелл</a:t>
            </a:r>
          </a:p>
          <a:p>
            <a:pPr algn="l">
              <a:lnSpc>
                <a:spcPts val="2351"/>
              </a:lnSpc>
            </a:pPr>
            <a:r>
              <a:rPr sz="1240" b="0" i="0">
                <a:solidFill>
                  <a:srgbClr val="4A4A4A"/>
                </a:solidFill>
                <a:latin typeface="Inter"/>
                <a:latin typeface="Inter"/>
                <a:ea typeface="Inter"/>
                <a:cs typeface="Inter"/>
              </a:rPr>
              <a:t>Хосе Мануэль Пинто</a:t>
            </a:r>
          </a:p>
          <a:p>
            <a:pPr algn="l">
              <a:lnSpc>
                <a:spcPts val="2351"/>
              </a:lnSpc>
            </a:pPr>
            <a:r>
              <a:rPr sz="1240" b="0" i="0">
                <a:solidFill>
                  <a:srgbClr val="4A4A4A"/>
                </a:solidFill>
                <a:latin typeface="Inter"/>
                <a:latin typeface="Inter"/>
                <a:ea typeface="Inter"/>
                <a:cs typeface="Inter"/>
              </a:rPr>
              <a:t>Абраам Гонсалес</a:t>
            </a:r>
          </a:p>
          <a:p>
            <a:pPr algn="l">
              <a:lnSpc>
                <a:spcPts val="2351"/>
              </a:lnSpc>
            </a:pPr>
            <a:r>
              <a:rPr sz="1240" b="0" i="0">
                <a:solidFill>
                  <a:srgbClr val="4A4A4A"/>
                </a:solidFill>
                <a:latin typeface="Inter"/>
                <a:latin typeface="Inter"/>
                <a:ea typeface="Inter"/>
                <a:cs typeface="Inter"/>
              </a:rPr>
              <a:t>Эйдур Гудьонсен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45126" y="4947940"/>
            <a:ext cx="5451574" cy="533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0"/>
              </a:lnSpc>
            </a:pPr>
            <a:r>
              <a:rPr sz="1120" b="0" i="0">
                <a:solidFill>
                  <a:srgbClr val="6B6B6B"/>
                </a:solidFill>
                <a:latin typeface="Inter"/>
                <a:latin typeface="Inter"/>
                <a:ea typeface="Inter"/>
                <a:cs typeface="Inter"/>
              </a:rPr>
              <a:t>Более пятнадцати автографов на одном мяче. Пара к мячу финала Лиги чемпионов 2006 года: две великие эпохи «Барселоны» в одной коллекции.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01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1960696"/>
            <a:ext cx="3492252" cy="2607548"/>
          </a:xfrm>
          <a:prstGeom prst="rect">
            <a:avLst/>
          </a:prstGeom>
        </p:spPr>
      </p:pic>
      <p:pic>
        <p:nvPicPr>
          <p:cNvPr id="4" name="Picture 3" descr="m019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9651" y="1960566"/>
            <a:ext cx="3492401" cy="2607659"/>
          </a:xfrm>
          <a:prstGeom prst="rect">
            <a:avLst/>
          </a:prstGeom>
        </p:spPr>
      </p:pic>
      <p:pic>
        <p:nvPicPr>
          <p:cNvPr id="5" name="Picture 4" descr="m02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7950" y="1960696"/>
            <a:ext cx="3492252" cy="260754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52450" y="361950"/>
            <a:ext cx="11106150" cy="1809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25"/>
              </a:lnSpc>
            </a:pPr>
            <a:r>
              <a:rPr sz="819" b="0" i="0" spc="297">
                <a:solidFill>
                  <a:srgbClr val="A98545"/>
                </a:solidFill>
                <a:latin typeface="Inter"/>
                <a:latin typeface="Inter"/>
                <a:ea typeface="Inter"/>
                <a:cs typeface="Inter"/>
              </a:rPr>
              <a:t>КАК МЫ ОФОРМЛЯЕМ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2450" y="600075"/>
            <a:ext cx="11106150" cy="533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00"/>
              </a:lnSpc>
            </a:pPr>
            <a:r>
              <a:rPr sz="3600" b="0" i="0">
                <a:solidFill>
                  <a:srgbClr val="1A1A1A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Каждый экспонат готов к показу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26704" y="4682579"/>
            <a:ext cx="1200894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0"/>
              </a:lnSpc>
            </a:pPr>
            <a:r>
              <a:rPr sz="750" b="0" i="0" spc="135">
                <a:solidFill>
                  <a:srgbClr val="A09A90"/>
                </a:solidFill>
                <a:latin typeface="Inter"/>
                <a:latin typeface="Inter"/>
                <a:ea typeface="Inter"/>
                <a:cs typeface="Inter"/>
              </a:rPr>
              <a:t>ФУТБОЛКА · РАМА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80571" y="4682579"/>
            <a:ext cx="1649611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0"/>
              </a:lnSpc>
            </a:pPr>
            <a:r>
              <a:rPr sz="750" b="0" i="0" spc="135">
                <a:solidFill>
                  <a:srgbClr val="A09A90"/>
                </a:solidFill>
                <a:latin typeface="Inter"/>
                <a:latin typeface="Inter"/>
                <a:ea typeface="Inter"/>
                <a:cs typeface="Inter"/>
              </a:rPr>
              <a:t>МЯЧ · БОКС НА МРАМОРЕ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91005" y="4682579"/>
            <a:ext cx="1785193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0"/>
              </a:lnSpc>
            </a:pPr>
            <a:r>
              <a:rPr sz="750" b="0" i="0" spc="135">
                <a:solidFill>
                  <a:srgbClr val="A09A90"/>
                </a:solidFill>
                <a:latin typeface="Inter"/>
                <a:latin typeface="Inter"/>
                <a:ea typeface="Inter"/>
                <a:cs typeface="Inter"/>
              </a:rPr>
              <a:t>БУТСА · БОКС НА МРАМОРЕ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2450" y="5719167"/>
            <a:ext cx="8152656" cy="8530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39"/>
              </a:lnSpc>
            </a:pPr>
            <a:r>
              <a:rPr sz="1200" b="0" i="0">
                <a:solidFill>
                  <a:srgbClr val="4A4A4A"/>
                </a:solidFill>
                <a:latin typeface="Inter"/>
                <a:latin typeface="Inter"/>
                <a:ea typeface="Inter"/>
                <a:cs typeface="Inter"/>
              </a:rPr>
              <a:t>Футболки — в раму с паспарту, тонкой золотой линией и латунной табличкой «PERSONALLY SIGNED BY LIONEL MESSI». Мячи, бутсы и кубок — в акриловый бокс на мраморном основании с такой же табличкой. </a:t>
            </a:r>
            <a:r>
              <a:rPr sz="1200" b="0" i="0">
                <a:solidFill>
                  <a:srgbClr val="A98545"/>
                </a:solidFill>
                <a:latin typeface="Inter"/>
                <a:latin typeface="Inter"/>
                <a:ea typeface="Inter"/>
                <a:cs typeface="Inter"/>
              </a:rPr>
              <a:t>Необходимое оформление входит в стоимость лота.</a:t>
            </a:r>
            <a:r>
              <a:rPr sz="1200" b="0" i="0">
                <a:solidFill>
                  <a:srgbClr val="4A4A4A"/>
                </a:solidFill>
                <a:latin typeface="Inter"/>
                <a:latin typeface="Inter"/>
                <a:ea typeface="Inter"/>
                <a:cs typeface="Inter"/>
              </a:rPr>
              <a:t> На фото — примеры.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4746" y="6391275"/>
            <a:ext cx="1783854" cy="1809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25"/>
              </a:lnSpc>
            </a:pPr>
            <a:r>
              <a:rPr sz="819" b="0" i="0" spc="165">
                <a:solidFill>
                  <a:srgbClr val="A98545"/>
                </a:solidFill>
                <a:latin typeface="Inter"/>
                <a:latin typeface="Inter"/>
                <a:ea typeface="Inter"/>
                <a:cs typeface="Inter"/>
              </a:rPr>
              <a:t>ПРИМЕРЫ ОФОРМЛЕНИЯ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0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28650" y="1914525"/>
            <a:ext cx="10934700" cy="9525"/>
          </a:xfrm>
          <a:prstGeom prst="rect">
            <a:avLst/>
          </a:prstGeom>
          <a:solidFill>
            <a:srgbClr val="2B2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28650" y="2457450"/>
            <a:ext cx="10934700" cy="9525"/>
          </a:xfrm>
          <a:prstGeom prst="rect">
            <a:avLst/>
          </a:prstGeom>
          <a:solidFill>
            <a:srgbClr val="2B2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28650" y="3000375"/>
            <a:ext cx="10934700" cy="9525"/>
          </a:xfrm>
          <a:prstGeom prst="rect">
            <a:avLst/>
          </a:prstGeom>
          <a:solidFill>
            <a:srgbClr val="2B2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8650" y="3543300"/>
            <a:ext cx="10934700" cy="9525"/>
          </a:xfrm>
          <a:prstGeom prst="rect">
            <a:avLst/>
          </a:prstGeom>
          <a:solidFill>
            <a:srgbClr val="2B2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8650" y="4086225"/>
            <a:ext cx="10934700" cy="9525"/>
          </a:xfrm>
          <a:prstGeom prst="rect">
            <a:avLst/>
          </a:prstGeom>
          <a:solidFill>
            <a:srgbClr val="2B2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8650" y="4629150"/>
            <a:ext cx="10934700" cy="9525"/>
          </a:xfrm>
          <a:prstGeom prst="rect">
            <a:avLst/>
          </a:prstGeom>
          <a:solidFill>
            <a:srgbClr val="2B2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8650" y="5172075"/>
            <a:ext cx="10934700" cy="9525"/>
          </a:xfrm>
          <a:prstGeom prst="rect">
            <a:avLst/>
          </a:prstGeom>
          <a:solidFill>
            <a:srgbClr val="2B2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9600" y="400050"/>
            <a:ext cx="10991850" cy="1809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25"/>
              </a:lnSpc>
            </a:pPr>
            <a:r>
              <a:rPr sz="819" b="0" i="0" spc="297">
                <a:solidFill>
                  <a:srgbClr val="C9A96A"/>
                </a:solidFill>
                <a:latin typeface="Inter"/>
                <a:latin typeface="Inter"/>
                <a:ea typeface="Inter"/>
                <a:cs typeface="Inter"/>
              </a:rPr>
              <a:t>ПОДБОРКА ЦЕЛИКОМ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638175"/>
            <a:ext cx="10991850" cy="552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750"/>
              </a:lnSpc>
            </a:pPr>
            <a:r>
              <a:rPr sz="3750" b="0" i="0">
                <a:solidFill>
                  <a:srgbClr val="F5F1E8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Восемь предметов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1552575"/>
            <a:ext cx="9673233" cy="281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20"/>
              </a:lnSpc>
            </a:pPr>
            <a:r>
              <a:rPr sz="1200" b="0" i="0">
                <a:solidFill>
                  <a:srgbClr val="D5CFC3"/>
                </a:solidFill>
                <a:latin typeface="Inter"/>
                <a:latin typeface="Inter"/>
                <a:ea typeface="Inter"/>
                <a:cs typeface="Inter"/>
              </a:rPr>
              <a:t>«Барселона» 2009 — командный мяч с 15+ автографами (Месси, Хави, Иньеста)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1433" y="1485900"/>
            <a:ext cx="1090017" cy="3619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50"/>
              </a:lnSpc>
            </a:pPr>
            <a:r>
              <a:rPr sz="1880" b="0" i="0">
                <a:solidFill>
                  <a:srgbClr val="C9A96A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2 400 000 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" y="2095500"/>
            <a:ext cx="9684246" cy="281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20"/>
              </a:lnSpc>
            </a:pPr>
            <a:r>
              <a:rPr sz="1200" b="0" i="0">
                <a:solidFill>
                  <a:srgbClr val="D5CFC3"/>
                </a:solidFill>
                <a:latin typeface="Inter"/>
                <a:latin typeface="Inter"/>
                <a:ea typeface="Inter"/>
                <a:cs typeface="Inter"/>
              </a:rPr>
              <a:t>Лионель Месси — реплика кубка чемпионата мира с автографом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22446" y="2028825"/>
            <a:ext cx="1079004" cy="3619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50"/>
              </a:lnSpc>
            </a:pPr>
            <a:r>
              <a:rPr sz="1880" b="0" i="0">
                <a:solidFill>
                  <a:srgbClr val="C9A96A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1 000 000 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600" y="2638425"/>
            <a:ext cx="9829949" cy="281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20"/>
              </a:lnSpc>
            </a:pPr>
            <a:r>
              <a:rPr sz="1200" b="0" i="0">
                <a:solidFill>
                  <a:srgbClr val="D5CFC3"/>
                </a:solidFill>
                <a:latin typeface="Inter"/>
                <a:latin typeface="Inter"/>
                <a:ea typeface="Inter"/>
                <a:cs typeface="Inter"/>
              </a:rPr>
              <a:t>Лионель Месси — мяч чемпионата мира 2022 с автографом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68149" y="2571750"/>
            <a:ext cx="933301" cy="3619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50"/>
              </a:lnSpc>
            </a:pPr>
            <a:r>
              <a:rPr sz="1880" b="0" i="0">
                <a:solidFill>
                  <a:srgbClr val="C9A96A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950 000 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9600" y="3181350"/>
            <a:ext cx="9829949" cy="281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20"/>
              </a:lnSpc>
            </a:pPr>
            <a:r>
              <a:rPr sz="1200" b="0" i="0">
                <a:solidFill>
                  <a:srgbClr val="D5CFC3"/>
                </a:solidFill>
                <a:latin typeface="Inter"/>
                <a:latin typeface="Inter"/>
                <a:ea typeface="Inter"/>
                <a:cs typeface="Inter"/>
              </a:rPr>
              <a:t>Лионель Месси — именная футболка сборной Аргентины с автографом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68149" y="3114675"/>
            <a:ext cx="933301" cy="3619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50"/>
              </a:lnSpc>
            </a:pPr>
            <a:r>
              <a:rPr sz="1880" b="0" i="0">
                <a:solidFill>
                  <a:srgbClr val="C9A96A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650 000 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9600" y="3724275"/>
            <a:ext cx="9829949" cy="281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20"/>
              </a:lnSpc>
            </a:pPr>
            <a:r>
              <a:rPr sz="1200" b="0" i="0">
                <a:solidFill>
                  <a:srgbClr val="D5CFC3"/>
                </a:solidFill>
                <a:latin typeface="Inter"/>
                <a:latin typeface="Inter"/>
                <a:ea typeface="Inter"/>
                <a:cs typeface="Inter"/>
              </a:rPr>
              <a:t>Лионель Месси — футболка «Барселоны» 2008‑10 с автографом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68149" y="3657600"/>
            <a:ext cx="933301" cy="3619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50"/>
              </a:lnSpc>
            </a:pPr>
            <a:r>
              <a:rPr sz="1880" b="0" i="0">
                <a:solidFill>
                  <a:srgbClr val="C9A96A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650 000 ₽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4267200"/>
            <a:ext cx="9813727" cy="281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20"/>
              </a:lnSpc>
            </a:pPr>
            <a:r>
              <a:rPr sz="1200" b="0" i="0">
                <a:solidFill>
                  <a:srgbClr val="D5CFC3"/>
                </a:solidFill>
                <a:latin typeface="Inter"/>
                <a:latin typeface="Inter"/>
                <a:ea typeface="Inter"/>
                <a:cs typeface="Inter"/>
              </a:rPr>
              <a:t>Лионель Месси — бутса с автографом (Аргентина)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51927" y="4200525"/>
            <a:ext cx="949523" cy="3619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50"/>
              </a:lnSpc>
            </a:pPr>
            <a:r>
              <a:rPr sz="1880" b="0" i="0">
                <a:solidFill>
                  <a:srgbClr val="C9A96A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600 000 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4810125"/>
            <a:ext cx="9813727" cy="281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20"/>
              </a:lnSpc>
            </a:pPr>
            <a:r>
              <a:rPr sz="1200" b="0" i="0">
                <a:solidFill>
                  <a:srgbClr val="D5CFC3"/>
                </a:solidFill>
                <a:latin typeface="Inter"/>
                <a:latin typeface="Inter"/>
                <a:ea typeface="Inter"/>
                <a:cs typeface="Inter"/>
              </a:rPr>
              <a:t>Лионель Месси — бутса Adidas с автографом («Барселона»)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51927" y="4743450"/>
            <a:ext cx="949523" cy="3619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50"/>
              </a:lnSpc>
            </a:pPr>
            <a:r>
              <a:rPr sz="1880" b="0" i="0">
                <a:solidFill>
                  <a:srgbClr val="C9A96A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600 000 ₽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9600" y="5353050"/>
            <a:ext cx="9813727" cy="281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20"/>
              </a:lnSpc>
            </a:pPr>
            <a:r>
              <a:rPr sz="1200" b="0" i="0">
                <a:solidFill>
                  <a:srgbClr val="D5CFC3"/>
                </a:solidFill>
                <a:latin typeface="Inter"/>
                <a:latin typeface="Inter"/>
                <a:ea typeface="Inter"/>
                <a:cs typeface="Inter"/>
              </a:rPr>
              <a:t>Лионель Месси — мяч с автографом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51927" y="5286375"/>
            <a:ext cx="949523" cy="3619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50"/>
              </a:lnSpc>
            </a:pPr>
            <a:r>
              <a:rPr sz="1880" b="0" i="0">
                <a:solidFill>
                  <a:srgbClr val="C9A96A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600 000 ₽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0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115050"/>
            <a:ext cx="12192000" cy="9525"/>
          </a:xfrm>
          <a:prstGeom prst="rect">
            <a:avLst/>
          </a:prstGeom>
          <a:solidFill>
            <a:srgbClr val="3A30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0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622984"/>
            <a:ext cx="1830437" cy="13906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66750" y="3356521"/>
            <a:ext cx="6599634" cy="1118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104"/>
              </a:lnSpc>
            </a:pPr>
            <a:r>
              <a:rPr sz="3600" b="0" i="0">
                <a:solidFill>
                  <a:srgbClr val="F5F1E8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Готовы показать любой предмет подборки вблизи.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6750" y="4627513"/>
            <a:ext cx="5257949" cy="62656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7"/>
              </a:lnSpc>
            </a:pPr>
            <a:r>
              <a:rPr sz="1280" b="0" i="0">
                <a:solidFill>
                  <a:srgbClr val="B0AA9E"/>
                </a:solidFill>
                <a:latin typeface="Inter"/>
                <a:latin typeface="Inter"/>
                <a:ea typeface="Inter"/>
                <a:cs typeface="Inter"/>
              </a:rPr>
              <a:t>Обсудим оформление и подготовим лот к передаче в удобный вам срок.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-19050" y="6096000"/>
            <a:ext cx="12249150" cy="8191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40"/>
              </a:lnSpc>
            </a:pPr>
            <a:r>
              <a:rPr sz="819" b="0" i="0" spc="198">
                <a:solidFill>
                  <a:srgbClr val="C9A96A"/>
                </a:solidFill>
                <a:latin typeface="Inter"/>
                <a:latin typeface="Inter"/>
                <a:ea typeface="Inter"/>
                <a:cs typeface="Inter"/>
              </a:rPr>
              <a:t>STARGIFT.RU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