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576" y="0"/>
            <a:ext cx="6156424" cy="6858000"/>
          </a:xfrm>
          <a:prstGeom prst="rect">
            <a:avLst/>
          </a:prstGeom>
        </p:spPr>
      </p:pic>
      <p:pic>
        <p:nvPicPr>
          <p:cNvPr id="4" name="Picture 3" descr="m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533444"/>
            <a:ext cx="1755130" cy="13334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596158"/>
            <a:ext cx="2846338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ЧАСТНОЕ СОБРАНИЕ · МУЗЫКА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2929533"/>
            <a:ext cx="5102126" cy="13710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98"/>
              </a:lnSpc>
            </a:pPr>
            <a:r>
              <a:rPr sz="49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Майкл</a:t>
            </a:r>
          </a:p>
          <a:p>
            <a:pPr algn="l">
              <a:lnSpc>
                <a:spcPts val="5098"/>
              </a:lnSpc>
            </a:pPr>
            <a:r>
              <a:rPr sz="49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Джексон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4433888"/>
            <a:ext cx="4199037" cy="107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8"/>
              </a:lnSpc>
            </a:pPr>
            <a:r>
              <a:rPr sz="120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Девять подписанных пластинок — от первого сингла Jackson 5 до «Bad» — и пять фотографий. Двадцать лет карьеры, собранные по конвертам, которые он держал в руках.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81725"/>
            <a:ext cx="2483495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14 ПРЕДМЕТОВ · АВГУСТ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1267" y="6619429"/>
            <a:ext cx="2808833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8"/>
              </a:lnSpc>
            </a:pPr>
            <a:r>
              <a:rPr sz="640" b="0" i="0" spc="51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Epic Records · Wikimedia Commons · public domain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34700" y="3492103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70120" y="1939528"/>
            <a:ext cx="188848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25"/>
              </a:lnSpc>
            </a:pPr>
            <a:r>
              <a:rPr sz="819" b="0" i="0" spc="24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1969–1971 · MOTOWN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272903"/>
            <a:ext cx="3409950" cy="1028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3750"/>
              </a:lnSpc>
            </a:pPr>
            <a:r>
              <a:rPr sz="37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Пятеро братьев</a:t>
            </a:r>
          </a:p>
          <a:p>
            <a:pPr algn="r">
              <a:lnSpc>
                <a:spcPts val="3750"/>
              </a:lnSpc>
            </a:pPr>
            <a:r>
              <a:rPr sz="37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из Гэри, Индиана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46454" y="3730228"/>
            <a:ext cx="4293096" cy="12072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27"/>
              </a:lnSpc>
            </a:pPr>
            <a:r>
              <a:rPr sz="135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Осенью 1969 года Motown выпустил сингл группы, которую ещё никто не знал. Через три месяца он стоял на первой строчке, а солисту было одиннадцать лет.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8626" y="6619429"/>
            <a:ext cx="2981474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8"/>
              </a:lnSpc>
            </a:pPr>
            <a:r>
              <a:rPr sz="640" b="0" i="0" spc="51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Bernie Ilson, Inc. · Wikimedia Commons · public domain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4091880"/>
            <a:ext cx="4617690" cy="9525"/>
          </a:xfrm>
          <a:prstGeom prst="rect">
            <a:avLst/>
          </a:prstGeom>
          <a:solidFill>
            <a:srgbClr val="37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4458593"/>
            <a:ext cx="4617690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2450" y="4825305"/>
            <a:ext cx="4617690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2450" y="5192018"/>
            <a:ext cx="4617690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2450" y="5558730"/>
            <a:ext cx="4617690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290" y="0"/>
            <a:ext cx="658371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4350" y="1251645"/>
            <a:ext cx="251817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СПРАВКА · MOTOWN · 1969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546920"/>
            <a:ext cx="4674840" cy="9644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97"/>
              </a:lnSpc>
            </a:pPr>
            <a:r>
              <a:rPr sz="33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Diana Ross Presents</a:t>
            </a:r>
          </a:p>
          <a:p>
            <a:pPr algn="l">
              <a:lnSpc>
                <a:spcPts val="3497"/>
              </a:lnSpc>
            </a:pPr>
            <a:r>
              <a:rPr sz="33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The Jackson 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2625626"/>
            <a:ext cx="4674840" cy="12757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12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Дебютный альбом группы на Motown. Название придумали как рекламный ход: Дайана Росс группу не открывала, но её имя на обложке открывало радиостанции. Сингл «I Want You Back» с этой пластинки поднялся на первое место Billboard Hot 100 в январе 1970-го.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350" y="4215705"/>
            <a:ext cx="636091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ЛЕЙБЛ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9250" y="4177605"/>
            <a:ext cx="69443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Motown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350" y="4582418"/>
            <a:ext cx="669429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ВЫШЕЛ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9250" y="4544318"/>
            <a:ext cx="118690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18 декабря 1969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350" y="4949130"/>
            <a:ext cx="629245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СИНГЛ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9250" y="4911030"/>
            <a:ext cx="332437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«I Want You Back» — первое место Billboard Hot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350" y="5315843"/>
            <a:ext cx="741164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МАЙКЛУ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9250" y="5277743"/>
            <a:ext cx="55810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11 лет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5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5550" y="2111871"/>
            <a:ext cx="207019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1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0" y="2359521"/>
            <a:ext cx="5391150" cy="672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9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«Diana Ross Presents The Jackson 5» — конверт с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079849"/>
            <a:ext cx="5391150" cy="970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62"/>
              </a:lnSpc>
            </a:pPr>
            <a:r>
              <a:rPr sz="10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Конверт дебютного альбома Jackson 5 с автографом. Тот самый релиз, с которого началась карьера: на обороте — фотография пятерых братьев в студии, на лицевой стороне — рамка с именем Дайаны Росс, придуманная лейблом для радио.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4127004"/>
            <a:ext cx="1273076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5550" y="4555629"/>
            <a:ext cx="778818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750" b="0" i="0" spc="13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69965" y="0"/>
            <a:ext cx="9525" cy="6858000"/>
          </a:xfrm>
          <a:prstGeom prst="rect">
            <a:avLst/>
          </a:prstGeom>
          <a:solidFill>
            <a:srgbClr val="31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70040" y="4089499"/>
            <a:ext cx="7231410" cy="9525"/>
          </a:xfrm>
          <a:prstGeom prst="rect">
            <a:avLst/>
          </a:prstGeom>
          <a:solidFill>
            <a:srgbClr val="37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0040" y="4475262"/>
            <a:ext cx="3406080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95221" y="4475262"/>
            <a:ext cx="3406229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70040" y="4861024"/>
            <a:ext cx="3406080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95221" y="4861024"/>
            <a:ext cx="3406229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" y="2824162"/>
            <a:ext cx="1924943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СПРАВКА · MOTOWN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350" y="3005138"/>
            <a:ext cx="1523851" cy="1133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900"/>
              </a:lnSpc>
            </a:pPr>
            <a:r>
              <a:rPr sz="6900" b="0" i="0" spc="-138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1940" y="1930301"/>
            <a:ext cx="3268117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7"/>
              </a:lnSpc>
            </a:pPr>
            <a:r>
              <a:rPr sz="34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Maybe Tomorrow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0990" y="2623245"/>
            <a:ext cx="4116586" cy="12757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12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Четвёртый альбом Jackson 5, вышедший на пике их первой славы. Экземпляр из первого тиража: разворотный конверт, оригинальные лейблы Motown на самом виниле. Подписан не одним Майклом — росчерки братьев идут прямо по обложке.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1940" y="4222849"/>
            <a:ext cx="636091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ЛЕЙБЛ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7790" y="4184749"/>
            <a:ext cx="69443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Motown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7121" y="4222849"/>
            <a:ext cx="669429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ВЫШЕЛ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2971" y="4184749"/>
            <a:ext cx="108614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12 апреля 1971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1940" y="4608612"/>
            <a:ext cx="652016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ТИРАЖ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7790" y="4570512"/>
            <a:ext cx="243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первый пресс, разворотный конверт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7121" y="4608612"/>
            <a:ext cx="956221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АВТОГРАФЫ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2971" y="4570512"/>
            <a:ext cx="243795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Майкл и братья, по лицевой стороне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6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5550" y="2111871"/>
            <a:ext cx="2091184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2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0" y="2359521"/>
            <a:ext cx="5391150" cy="672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9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«Maybe Tomorrow» — первый тираж 1971 года с автографами братьев Джексон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079849"/>
            <a:ext cx="5391150" cy="970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62"/>
              </a:lnSpc>
            </a:pPr>
            <a:r>
              <a:rPr sz="10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Самый ранний предмет подборки после дебюта: первый тираж 1971 года с автографами братьев Джексон прямо по обложке. Автографы Jackson 5 того периода встречаются реже сольных — группа подписывала мало и почти всегда на бегу.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4127004"/>
            <a:ext cx="1417290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1 850 000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5550" y="4555629"/>
            <a:ext cx="467767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750" b="0" i="0" spc="13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797" y="771525"/>
            <a:ext cx="1878806" cy="1905000"/>
          </a:xfrm>
          <a:prstGeom prst="rect">
            <a:avLst/>
          </a:prstGeom>
        </p:spPr>
      </p:pic>
      <p:pic>
        <p:nvPicPr>
          <p:cNvPr id="4" name="Picture 3" descr="m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430" y="771525"/>
            <a:ext cx="2958992" cy="1904851"/>
          </a:xfrm>
          <a:prstGeom prst="rect">
            <a:avLst/>
          </a:prstGeom>
        </p:spPr>
      </p:pic>
      <p:pic>
        <p:nvPicPr>
          <p:cNvPr id="5" name="Picture 4" descr="m00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5100" y="771525"/>
            <a:ext cx="1989401" cy="1904851"/>
          </a:xfrm>
          <a:prstGeom prst="rect">
            <a:avLst/>
          </a:prstGeom>
        </p:spPr>
      </p:pic>
      <p:pic>
        <p:nvPicPr>
          <p:cNvPr id="6" name="Picture 5" descr="m0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2736" y="3342382"/>
            <a:ext cx="1938780" cy="1904851"/>
          </a:xfrm>
          <a:prstGeom prst="rect">
            <a:avLst/>
          </a:prstGeom>
        </p:spPr>
      </p:pic>
      <p:pic>
        <p:nvPicPr>
          <p:cNvPr id="7" name="Picture 6" descr="m01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262" y="3342382"/>
            <a:ext cx="1895475" cy="1905000"/>
          </a:xfrm>
          <a:prstGeom prst="rect">
            <a:avLst/>
          </a:prstGeom>
        </p:spPr>
      </p:pic>
      <p:pic>
        <p:nvPicPr>
          <p:cNvPr id="8" name="Picture 7" descr="m01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9899" y="3342382"/>
            <a:ext cx="2539802" cy="19048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266700"/>
            <a:ext cx="4104531" cy="37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9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«Maybe Tomorrow» · разворот и винил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9816" y="390525"/>
            <a:ext cx="2091184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2 ИЗ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9050" y="5741938"/>
            <a:ext cx="8623250" cy="117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0"/>
              </a:lnSpc>
            </a:pPr>
            <a:r>
              <a:rPr sz="10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Разворотный конверт с росчерками, внутренний разворот с фотографиями группы, оригинальные синие лейблы Motown и сам винил. Первый пресс отличается именно лейблом: у поздних переизданий он другого цвета и с другим шрифтом.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69965" y="0"/>
            <a:ext cx="9525" cy="6858000"/>
          </a:xfrm>
          <a:prstGeom prst="rect">
            <a:avLst/>
          </a:prstGeom>
          <a:solidFill>
            <a:srgbClr val="31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70040" y="4089499"/>
            <a:ext cx="7231410" cy="9525"/>
          </a:xfrm>
          <a:prstGeom prst="rect">
            <a:avLst/>
          </a:prstGeom>
          <a:solidFill>
            <a:srgbClr val="37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0040" y="4475262"/>
            <a:ext cx="3406080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95221" y="4475262"/>
            <a:ext cx="3406229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70040" y="4861024"/>
            <a:ext cx="3406080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95221" y="4861024"/>
            <a:ext cx="3406229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" y="2824162"/>
            <a:ext cx="1924943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СПРАВКА · MOTOWN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350" y="3005138"/>
            <a:ext cx="1585168" cy="1133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900"/>
              </a:lnSpc>
            </a:pPr>
            <a:r>
              <a:rPr sz="6900" b="0" i="0" spc="-138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1940" y="1930301"/>
            <a:ext cx="3028057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7"/>
              </a:lnSpc>
            </a:pPr>
            <a:r>
              <a:rPr sz="34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Got To Be There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0990" y="2623245"/>
            <a:ext cx="4116586" cy="12757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12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Сольный дебют Майкла — ему тринадцать. Motown выпустил альбом, не выводя его из состава Jackson 5: группа продолжала записываться параллельно. С этой обложки и начинается его отдельная биография — мальчик в кепке, снятый на фоне неба.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1940" y="4222849"/>
            <a:ext cx="636091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ЛЕЙБЛ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7790" y="4184749"/>
            <a:ext cx="69443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Motown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7121" y="4222849"/>
            <a:ext cx="669429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ВЫШЕЛ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2971" y="4184749"/>
            <a:ext cx="113541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24 января 1972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1940" y="4608612"/>
            <a:ext cx="737890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ФОРМАТ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7790" y="4570512"/>
            <a:ext cx="237797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первый сольный студийный альбом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7121" y="4608612"/>
            <a:ext cx="741164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МАЙКЛУ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2971" y="4570512"/>
            <a:ext cx="58444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13 лет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5550" y="2223641"/>
            <a:ext cx="2092375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3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0" y="2471291"/>
            <a:ext cx="5391150" cy="672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9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«Got To Be There» — конверт сольного дебюта с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191619"/>
            <a:ext cx="5391150" cy="7472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62"/>
              </a:lnSpc>
            </a:pPr>
            <a:r>
              <a:rPr sz="10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Конверт сольного дебюта с автографом. Точка, с которой начинается всё остальное в этой подборке: до «Got To Be There» Майкл Джексон был солистом группы, после — самостоятельным именем на обложке.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4015085"/>
            <a:ext cx="1432768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1 000 000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5550" y="4443710"/>
            <a:ext cx="461367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750" b="0" i="0" spc="13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69965" y="0"/>
            <a:ext cx="9525" cy="6858000"/>
          </a:xfrm>
          <a:prstGeom prst="rect">
            <a:avLst/>
          </a:prstGeom>
          <a:solidFill>
            <a:srgbClr val="31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70040" y="4089499"/>
            <a:ext cx="7231410" cy="9525"/>
          </a:xfrm>
          <a:prstGeom prst="rect">
            <a:avLst/>
          </a:prstGeom>
          <a:solidFill>
            <a:srgbClr val="37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0040" y="4475262"/>
            <a:ext cx="3406080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95221" y="4475262"/>
            <a:ext cx="3406229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70040" y="4861024"/>
            <a:ext cx="3406080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95221" y="4861024"/>
            <a:ext cx="3406229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" y="2824162"/>
            <a:ext cx="1924943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СПРАВКА · MOTOWN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350" y="3005138"/>
            <a:ext cx="1679823" cy="1133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900"/>
              </a:lnSpc>
            </a:pPr>
            <a:r>
              <a:rPr sz="6900" b="0" i="0" spc="-138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1940" y="1930301"/>
            <a:ext cx="4744641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7"/>
              </a:lnSpc>
            </a:pPr>
            <a:r>
              <a:rPr sz="34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Farewell My Summer Love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0990" y="2623245"/>
            <a:ext cx="4116586" cy="12757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12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Пластинка с необычной историей. Записи 1973 года пролежали в архиве Motown одиннадцать лет; в 1984-м, на волне успеха «Thriller» у другого лейбла, их достали, добавили современную аранжировку и выпустили как новый альбом. Голос на записи — шестнадцатилетний.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1940" y="4222849"/>
            <a:ext cx="636091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ЛЕЙБЛ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7790" y="4184749"/>
            <a:ext cx="69443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Motown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7121" y="4222849"/>
            <a:ext cx="669429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ВЫШЕЛ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2971" y="4184749"/>
            <a:ext cx="925413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15 мая 1984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1940" y="4608612"/>
            <a:ext cx="895350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ЗАПИСАНО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7790" y="4570512"/>
            <a:ext cx="160451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1973 год, архив лейбла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7121" y="4608612"/>
            <a:ext cx="1134666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ОСОБЕННОСТЬ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2971" y="4570512"/>
            <a:ext cx="201349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выпущен без участия артиста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4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5550" y="2223641"/>
            <a:ext cx="2095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4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0" y="2471291"/>
            <a:ext cx="5391150" cy="672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9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«Farewell My Summer Love» — конверт с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191619"/>
            <a:ext cx="5391150" cy="7472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62"/>
              </a:lnSpc>
            </a:pPr>
            <a:r>
              <a:rPr sz="10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Конверт с автографом. Экземпляр полный: с бонусным цветным постером, который вкладывался в первый тираж и обычно теряется первым. Обложка — ночной концертный кадр, редкий для его пластинок сюжет.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4015085"/>
            <a:ext cx="1414016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1 050 000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5550" y="4443710"/>
            <a:ext cx="778818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750" b="0" i="0" spc="13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559" y="771525"/>
            <a:ext cx="1869281" cy="1905000"/>
          </a:xfrm>
          <a:prstGeom prst="rect">
            <a:avLst/>
          </a:prstGeom>
        </p:spPr>
      </p:pic>
      <p:pic>
        <p:nvPicPr>
          <p:cNvPr id="4" name="Picture 3" descr="m0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631" y="771525"/>
            <a:ext cx="1328738" cy="1905000"/>
          </a:xfrm>
          <a:prstGeom prst="rect">
            <a:avLst/>
          </a:prstGeom>
        </p:spPr>
      </p:pic>
      <p:pic>
        <p:nvPicPr>
          <p:cNvPr id="5" name="Picture 4" descr="m01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7863" y="771525"/>
            <a:ext cx="1943726" cy="1904851"/>
          </a:xfrm>
          <a:prstGeom prst="rect">
            <a:avLst/>
          </a:prstGeom>
        </p:spPr>
      </p:pic>
      <p:pic>
        <p:nvPicPr>
          <p:cNvPr id="6" name="Picture 5" descr="m01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169" y="3449092"/>
            <a:ext cx="1262062" cy="1905000"/>
          </a:xfrm>
          <a:prstGeom prst="rect">
            <a:avLst/>
          </a:prstGeom>
        </p:spPr>
      </p:pic>
      <p:pic>
        <p:nvPicPr>
          <p:cNvPr id="7" name="Picture 6" descr="m01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1625" y="3449092"/>
            <a:ext cx="1428750" cy="1905000"/>
          </a:xfrm>
          <a:prstGeom prst="rect">
            <a:avLst/>
          </a:prstGeom>
        </p:spPr>
      </p:pic>
      <p:pic>
        <p:nvPicPr>
          <p:cNvPr id="8" name="Picture 7" descr="m02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5425" y="3449092"/>
            <a:ext cx="1428750" cy="1905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266700"/>
            <a:ext cx="4133106" cy="37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9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«Farewell My Summer Love» · комплект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0" y="390525"/>
            <a:ext cx="2095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4 ИЗ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9050" y="5955209"/>
            <a:ext cx="8623250" cy="9599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0"/>
              </a:lnSpc>
            </a:pPr>
            <a:r>
              <a:rPr sz="10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Лицевая сторона с автографом, оборот с указанием на вложенный постер, внутренний конверт со списком композиций и сам винил. Сохранность конверта для тиража 1984 года выше средней.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34700" y="3492103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83701" y="1939528"/>
            <a:ext cx="157489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25"/>
              </a:lnSpc>
            </a:pPr>
            <a:r>
              <a:rPr sz="819" b="0" i="0" spc="24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1979–1987 · EPIC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54814" y="2272903"/>
            <a:ext cx="2884736" cy="1028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3750"/>
              </a:lnSpc>
            </a:pPr>
            <a:r>
              <a:rPr sz="37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Куинси Джонс</a:t>
            </a:r>
          </a:p>
          <a:p>
            <a:pPr algn="r">
              <a:lnSpc>
                <a:spcPts val="3750"/>
              </a:lnSpc>
            </a:pPr>
            <a:r>
              <a:rPr sz="37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и три альбома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46454" y="3730228"/>
            <a:ext cx="4293096" cy="12072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27"/>
              </a:lnSpc>
            </a:pPr>
            <a:r>
              <a:rPr sz="135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Уйдя с Motown, Джексон записал с продюсером Куинси Джонсом три пластинки подряд. Каждая следующая продавалась лучше предыдущей — случай, которого в поп-музыке больше не было.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21267" y="6619429"/>
            <a:ext cx="2808833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8"/>
              </a:lnSpc>
            </a:pPr>
            <a:r>
              <a:rPr sz="640" b="0" i="0" spc="51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Epic Records · Wikimedia Commons · public domain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69965" y="0"/>
            <a:ext cx="9525" cy="6858000"/>
          </a:xfrm>
          <a:prstGeom prst="rect">
            <a:avLst/>
          </a:prstGeom>
          <a:solidFill>
            <a:srgbClr val="31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70040" y="3876675"/>
            <a:ext cx="7231410" cy="9525"/>
          </a:xfrm>
          <a:prstGeom prst="rect">
            <a:avLst/>
          </a:prstGeom>
          <a:solidFill>
            <a:srgbClr val="37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0040" y="4262438"/>
            <a:ext cx="3406080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95221" y="4262438"/>
            <a:ext cx="3406229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70040" y="4833938"/>
            <a:ext cx="3406080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95221" y="4833938"/>
            <a:ext cx="3406229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" y="2824162"/>
            <a:ext cx="158368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СПРАВКА · EPIC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350" y="3005138"/>
            <a:ext cx="1640384" cy="1133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900"/>
              </a:lnSpc>
            </a:pPr>
            <a:r>
              <a:rPr sz="6900" b="0" i="0" spc="-138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1940" y="1957388"/>
            <a:ext cx="2439591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7"/>
              </a:lnSpc>
            </a:pPr>
            <a:r>
              <a:rPr sz="34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Off The Wall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0990" y="2650331"/>
            <a:ext cx="4116586" cy="1035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12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Первая совместная работа с Куинси Джонсом и первый альбом, где Джексон звучит как взрослый артист. Четыре сингла с него вошли в первую десятку Billboard — до этого ни один сольный исполнитель такого не добивался.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1940" y="4010025"/>
            <a:ext cx="636091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ЛЕЙБЛ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7790" y="3971925"/>
            <a:ext cx="47505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Epic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7121" y="4010025"/>
            <a:ext cx="669429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ВЫШЕЛ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2971" y="3971925"/>
            <a:ext cx="113808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10 августа 1979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1940" y="4395788"/>
            <a:ext cx="915442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ПРОДЮСЕР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7790" y="4357688"/>
            <a:ext cx="110475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Куинси Джонс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7121" y="4395788"/>
            <a:ext cx="711845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РЕКОРД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021" y="4348162"/>
            <a:ext cx="2377529" cy="4476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четыре сингла в первой десятке Billboard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2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5550" y="2372767"/>
            <a:ext cx="2089845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5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5550" y="2610892"/>
            <a:ext cx="4384328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9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«Off The Wall» — конверт с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042493"/>
            <a:ext cx="5391150" cy="7472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62"/>
              </a:lnSpc>
            </a:pPr>
            <a:r>
              <a:rPr sz="10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Конверт с автографом — самый дорогой предмет подборки. Обложка снята в смокинге у кирпичной стены: образ, который Джексон потом повторял на сцене годами. Росчерк лежит по светлому полю и читается целиком.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3865959"/>
            <a:ext cx="1466106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4 000 000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5550" y="4294584"/>
            <a:ext cx="461367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750" b="0" i="0" spc="13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69965" y="0"/>
            <a:ext cx="9525" cy="6858000"/>
          </a:xfrm>
          <a:prstGeom prst="rect">
            <a:avLst/>
          </a:prstGeom>
          <a:solidFill>
            <a:srgbClr val="31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70040" y="4089499"/>
            <a:ext cx="7231410" cy="9525"/>
          </a:xfrm>
          <a:prstGeom prst="rect">
            <a:avLst/>
          </a:prstGeom>
          <a:solidFill>
            <a:srgbClr val="37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0040" y="4475262"/>
            <a:ext cx="3406080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95221" y="4475262"/>
            <a:ext cx="3406229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70040" y="4861024"/>
            <a:ext cx="3406080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95221" y="4861024"/>
            <a:ext cx="3406229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" y="2824162"/>
            <a:ext cx="158368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СПРАВКА · EPIC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350" y="3005138"/>
            <a:ext cx="1637705" cy="1133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900"/>
              </a:lnSpc>
            </a:pPr>
            <a:r>
              <a:rPr sz="6900" b="0" i="0" spc="-138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1940" y="1930301"/>
            <a:ext cx="1514624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7"/>
              </a:lnSpc>
            </a:pPr>
            <a:r>
              <a:rPr sz="34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Thriller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0990" y="2623245"/>
            <a:ext cx="4116586" cy="12757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12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Самый продаваемый альбом в истории звукозаписи. Экземпляр из раннего тиража — каталожный номер QE 38112 без более поздних пометок, то есть пластинка отпечатана в первые месяцы после выхода, ещё до того, как продажи стали рекордными.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1940" y="4222849"/>
            <a:ext cx="636091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ЛЕЙБЛ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7790" y="4184749"/>
            <a:ext cx="47505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Epic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7121" y="4222849"/>
            <a:ext cx="669429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ВЫШЕЛ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2971" y="4184749"/>
            <a:ext cx="115267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30 ноября 1982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1940" y="4608612"/>
            <a:ext cx="652016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ТИРАЖ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7790" y="4570512"/>
            <a:ext cx="165020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ранний пресс, QE 38112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7121" y="4608612"/>
            <a:ext cx="1392436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МЕСТО В ИСТОРИИ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2407" y="4570512"/>
            <a:ext cx="196170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самый продаваемый альбом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5550" y="2372767"/>
            <a:ext cx="209267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6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5550" y="2610892"/>
            <a:ext cx="5436245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9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«Thriller» — ранний тираж QE 38112 с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042493"/>
            <a:ext cx="5391150" cy="7472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62"/>
              </a:lnSpc>
            </a:pPr>
            <a:r>
              <a:rPr sz="10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Конверт «Thriller» раннего тиража с автографом. Белый костюм на чёрном фоне — обложка, которую узнают без подписи в любой стране. Автограф поставлен по светлому пиджаку и не спорит с изображением.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3865959"/>
            <a:ext cx="1445419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2 400 000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5550" y="4294584"/>
            <a:ext cx="778818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750" b="0" i="0" spc="13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481" y="771525"/>
            <a:ext cx="2357438" cy="3143250"/>
          </a:xfrm>
          <a:prstGeom prst="rect">
            <a:avLst/>
          </a:prstGeom>
        </p:spPr>
      </p:pic>
      <p:pic>
        <p:nvPicPr>
          <p:cNvPr id="4" name="Picture 3" descr="m0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281" y="771525"/>
            <a:ext cx="2357438" cy="3143250"/>
          </a:xfrm>
          <a:prstGeom prst="rect">
            <a:avLst/>
          </a:prstGeom>
        </p:spPr>
      </p:pic>
      <p:pic>
        <p:nvPicPr>
          <p:cNvPr id="5" name="Picture 4" descr="m02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081" y="771525"/>
            <a:ext cx="2357438" cy="314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266700"/>
            <a:ext cx="4531370" cy="37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9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«Thriller» · конверт и внутренний разворот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8328" y="390525"/>
            <a:ext cx="209267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6 ИЗ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9050" y="5955209"/>
            <a:ext cx="8623250" cy="9599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0"/>
              </a:lnSpc>
            </a:pPr>
            <a:r>
              <a:rPr sz="10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Лицевая сторона с автографом, внутренний разворот с текстами песен и сам винил. Ранний пресс узнаётся по каталожному номеру на этикетке.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7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5550" y="2111871"/>
            <a:ext cx="208657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7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0" y="2359521"/>
            <a:ext cx="5391150" cy="672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9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«Thriller» — японское издание инструментальной версии с оби-полосой и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079849"/>
            <a:ext cx="5391150" cy="970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62"/>
              </a:lnSpc>
            </a:pPr>
            <a:r>
              <a:rPr sz="10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Японское издание с оби-полосой — узкой бумажной лентой на корешке, которую японские лейблы печатали отдельно и которая почти всегда выбрасывалась при вскрытии. Здесь она сохранена. Инструментальная версия выпускалась только для японского рынка.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4127004"/>
            <a:ext cx="1400770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1 750 000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5550" y="4555629"/>
            <a:ext cx="461367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750" b="0" i="0" spc="13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69965" y="0"/>
            <a:ext cx="9525" cy="6858000"/>
          </a:xfrm>
          <a:prstGeom prst="rect">
            <a:avLst/>
          </a:prstGeom>
          <a:solidFill>
            <a:srgbClr val="31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70040" y="3876675"/>
            <a:ext cx="7231410" cy="9525"/>
          </a:xfrm>
          <a:prstGeom prst="rect">
            <a:avLst/>
          </a:prstGeom>
          <a:solidFill>
            <a:srgbClr val="37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0040" y="4262438"/>
            <a:ext cx="3406080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95221" y="4262438"/>
            <a:ext cx="3406229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70040" y="4833938"/>
            <a:ext cx="3406080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95221" y="4833938"/>
            <a:ext cx="3406229" cy="9525"/>
          </a:xfrm>
          <a:prstGeom prst="rect">
            <a:avLst/>
          </a:prstGeom>
          <a:solidFill>
            <a:srgbClr val="272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" y="2824162"/>
            <a:ext cx="158368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СПРАВКА · EPIC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350" y="3005138"/>
            <a:ext cx="1661368" cy="1133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900"/>
              </a:lnSpc>
            </a:pPr>
            <a:r>
              <a:rPr sz="6900" b="0" i="0" spc="-138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1940" y="1957388"/>
            <a:ext cx="877639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7"/>
              </a:lnSpc>
            </a:pPr>
            <a:r>
              <a:rPr sz="34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Bad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0990" y="2650331"/>
            <a:ext cx="4116586" cy="1035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12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Третья и последняя пластинка, сделанная с Куинси Джонсом. Пять синглов с одного альбома поднялись на первое место Billboard Hot 100 — до «Bad» этого не удавалось никому, и рекорд держался годами.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1940" y="4010025"/>
            <a:ext cx="636091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ЛЕЙБЛ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7790" y="3971925"/>
            <a:ext cx="47505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Epic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7121" y="4010025"/>
            <a:ext cx="669429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ВЫШЕЛ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2971" y="3971925"/>
            <a:ext cx="114151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31 августа 1987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1940" y="4395788"/>
            <a:ext cx="915442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ПРОДЮСЕР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7790" y="4357688"/>
            <a:ext cx="110475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Куинси Джонс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7121" y="4395788"/>
            <a:ext cx="711845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8"/>
              </a:lnSpc>
            </a:pPr>
            <a:r>
              <a:rPr sz="710" b="0" i="0" spc="14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РЕКОРД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021" y="4348162"/>
            <a:ext cx="2377529" cy="4476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пять синглов на первом месте Billboard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8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5550" y="2111871"/>
            <a:ext cx="209267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8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0" y="2359521"/>
            <a:ext cx="5391150" cy="672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9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«Bad» — конверт с именным посвящением и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079849"/>
            <a:ext cx="5391150" cy="9709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62"/>
              </a:lnSpc>
            </a:pPr>
            <a:r>
              <a:rPr sz="10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Конверт с автографом и именным посвящением — Джексон подписал его конкретному человеку, надписав имя от руки. Такие экземпляры ценятся отдельно: они доказывают, что подпись поставлена вживую, а не на стопке конвертов у стола промоутера.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4127004"/>
            <a:ext cx="1448991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3 000 000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5550" y="4555629"/>
            <a:ext cx="467767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750" b="0" i="0" spc="13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9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5550" y="2372767"/>
            <a:ext cx="209267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9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5550" y="2610892"/>
            <a:ext cx="4028480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9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«Bad» — промо-тираж с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042493"/>
            <a:ext cx="5391150" cy="7472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62"/>
              </a:lnSpc>
            </a:pPr>
            <a:r>
              <a:rPr sz="10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Промо-тираж «Bad» с автографом. Промо-экземпляры печатались ограниченным числом и рассылались на радио до официального выхода — в продажу они не поступали, поэтому уцелевших мало.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3865959"/>
            <a:ext cx="1452414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3 800 000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5550" y="4294584"/>
            <a:ext cx="461367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750" b="0" i="0" spc="13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34700" y="3350716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70046" y="1798141"/>
            <a:ext cx="1288554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25"/>
              </a:lnSpc>
            </a:pPr>
            <a:r>
              <a:rPr sz="819" b="0" i="0" spc="24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ФОТОГРАФИИ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4484" y="2131516"/>
            <a:ext cx="2195066" cy="1028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3750"/>
              </a:lnSpc>
            </a:pPr>
            <a:r>
              <a:rPr sz="37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Белый дом,</a:t>
            </a:r>
          </a:p>
          <a:p>
            <a:pPr algn="r">
              <a:lnSpc>
                <a:spcPts val="3750"/>
              </a:lnSpc>
            </a:pPr>
            <a:r>
              <a:rPr sz="37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14 мая 1984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46454" y="3588841"/>
            <a:ext cx="4293096" cy="14900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27"/>
              </a:lnSpc>
            </a:pPr>
            <a:r>
              <a:rPr sz="135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Рейган вручает Джексону благодарность за то, что тот отдал «Beat It» для кампании против пьяного вождения. Год «Thriller» — и единственный визит поп-музыканта в Розовый сад в таком качестве.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48080" y="6619429"/>
            <a:ext cx="378202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8"/>
              </a:lnSpc>
            </a:pPr>
            <a:r>
              <a:rPr sz="640" b="0" i="0" spc="51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Ronald Reagan Presidential Library · Wikimedia Commons · public domain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5550" y="2223641"/>
            <a:ext cx="227811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10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0" y="2471291"/>
            <a:ext cx="5391150" cy="672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9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Фотография эпохи «Billie Jean» с автографом, 41×51 см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191619"/>
            <a:ext cx="5391150" cy="7472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62"/>
              </a:lnSpc>
            </a:pPr>
            <a:r>
              <a:rPr sz="10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Крупноформатный кадр эпохи «Billie Jean» с автографом. Формат 41×51 см — самый большой в подборке, рассчитанный на то, чтобы висеть отдельно, а не в ряду.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4015085"/>
            <a:ext cx="1408956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1 300 000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5550" y="4443710"/>
            <a:ext cx="461367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750" b="0" i="0" spc="13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2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5550" y="2223641"/>
            <a:ext cx="225400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11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0" y="2471291"/>
            <a:ext cx="5391150" cy="6727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9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Фотография в расшитом сценическом костюме с автографом, 19×28 см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191619"/>
            <a:ext cx="5391150" cy="7472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62"/>
              </a:lnSpc>
            </a:pPr>
            <a:r>
              <a:rPr sz="10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Сценический кадр в расшитом костюме с автографом. Небольшой формат, плотная композиция: лицо, костюм и росчерк умещаются в одном кадре без пустот.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4015085"/>
            <a:ext cx="1429494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1 600 000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5550" y="4443710"/>
            <a:ext cx="778818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750" b="0" i="0" spc="13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5550" y="2372767"/>
            <a:ext cx="227513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12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5550" y="2610892"/>
            <a:ext cx="4848374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9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Цветная фотография с автографом, 28×36 см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042493"/>
            <a:ext cx="5391150" cy="7472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62"/>
              </a:lnSpc>
            </a:pPr>
            <a:r>
              <a:rPr sz="10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Цветной портрет в чёрной куртке с шевронами — образ конца восьмидесятых. Автограф серебряным маркером по тёмному полю, читается на просвет.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3865959"/>
            <a:ext cx="1417290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1 850 000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5550" y="4294584"/>
            <a:ext cx="778818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750" b="0" i="0" spc="13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4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5550" y="2372767"/>
            <a:ext cx="2276177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13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5550" y="2610892"/>
            <a:ext cx="5505004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9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Фотография в белой шляпе с автографом, 28×36 см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042493"/>
            <a:ext cx="5391150" cy="7472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62"/>
              </a:lnSpc>
            </a:pPr>
            <a:r>
              <a:rPr sz="10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Кадр в белой шляпе и синем сценическом свете — узнаваемая поза из «Smooth Criminal». Один из тех снимков, где герой опознаётся по силуэту, даже если закрыть лицо.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3865959"/>
            <a:ext cx="1452116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2 000 000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5550" y="4294584"/>
            <a:ext cx="467767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750" b="0" i="0" spc="13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5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5550" y="2372767"/>
            <a:ext cx="2279303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14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5550" y="2610892"/>
            <a:ext cx="5184428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9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Автограф на отдельном листе в капсуле, 23×9 см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042493"/>
            <a:ext cx="5391150" cy="7472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62"/>
              </a:lnSpc>
            </a:pPr>
            <a:r>
              <a:rPr sz="10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Автограф на отдельном листе, запечатанный в капсулу. Самый доступный предмет подборки и самый гибкий: капсулу можно оформить в раму рядом с любой фотографией на выбор.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3865959"/>
            <a:ext cx="1244352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750 000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5550" y="4294584"/>
            <a:ext cx="778818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750" b="0" i="0" spc="13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64" y="1317427"/>
            <a:ext cx="5412402" cy="4095601"/>
          </a:xfrm>
          <a:prstGeom prst="rect">
            <a:avLst/>
          </a:prstGeom>
        </p:spPr>
      </p:pic>
      <p:pic>
        <p:nvPicPr>
          <p:cNvPr id="4" name="Picture 3" descr="m0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410" y="1433512"/>
            <a:ext cx="4994762" cy="3863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0550" y="266700"/>
            <a:ext cx="2679204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Как мы отдаём подарок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1256" y="400050"/>
            <a:ext cx="1702594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6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УПАКОВКА STARGIFT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9050" y="5940028"/>
            <a:ext cx="8929241" cy="9751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0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Каждый предмет уходит в фирменной упаковке дома: крафт-бумага с автографами великих, лента Stargift и плотный подарочный пакет. Оформленную работу привозим и вешаем сами.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0550" y="1381125"/>
            <a:ext cx="11010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0550" y="1781175"/>
            <a:ext cx="11010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0550" y="2181225"/>
            <a:ext cx="11010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0550" y="2581275"/>
            <a:ext cx="11010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0550" y="2981325"/>
            <a:ext cx="11010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0550" y="3381375"/>
            <a:ext cx="11010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0550" y="3781425"/>
            <a:ext cx="11010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0550" y="4181475"/>
            <a:ext cx="11010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550" y="4581525"/>
            <a:ext cx="11010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0550" y="4981575"/>
            <a:ext cx="11010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0550" y="5381625"/>
            <a:ext cx="11010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0550" y="5781675"/>
            <a:ext cx="11010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0550" y="6181725"/>
            <a:ext cx="11010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0550" y="6581775"/>
            <a:ext cx="110109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450" y="285750"/>
            <a:ext cx="2009775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ПОДБОРКА ЦЕЛИКОМ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450" y="466725"/>
            <a:ext cx="2114848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50"/>
              </a:lnSpc>
            </a:pPr>
            <a:r>
              <a:rPr sz="28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14 предметов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450" y="1119188"/>
            <a:ext cx="259094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«Off The Wall» — конверт с автографом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52534" y="1071562"/>
            <a:ext cx="1039416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4 000 000 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450" y="1519238"/>
            <a:ext cx="244107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«Bad» — промо-тираж с автографом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61613" y="1471612"/>
            <a:ext cx="1030337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3 800 000 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450" y="1919288"/>
            <a:ext cx="368185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«Bad» — конверт с именным посвящением и автографом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3696" y="1871662"/>
            <a:ext cx="1028254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3 000 000 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450" y="2319338"/>
            <a:ext cx="319712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«Thriller» — ранний тираж QE 38112 с автографом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66078" y="2271712"/>
            <a:ext cx="1025872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2 400 000 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450" y="2719388"/>
            <a:ext cx="336604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Фотография в белой шляпе с автографом, 28×36 см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61762" y="2671762"/>
            <a:ext cx="1030188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2 000 000 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2450" y="3119438"/>
            <a:ext cx="295781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Цветная фотография с автографом, 28×36 см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4532" y="3071812"/>
            <a:ext cx="1007418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1 850 000 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2450" y="3519488"/>
            <a:ext cx="500568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«Maybe Tomorrow» — первый тираж 1971 года с автографами братьев Джексон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4532" y="3471862"/>
            <a:ext cx="1007418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1 850 000 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2450" y="3919537"/>
            <a:ext cx="543490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«Thriller» — японское издание инструментальной версии с оби-полосой и автографом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95397" y="3871912"/>
            <a:ext cx="996553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1 750 000 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2450" y="4319588"/>
            <a:ext cx="456634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Фотография в расшитом сценическом костюме с автографом, 19×28 см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76645" y="4271962"/>
            <a:ext cx="1015305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1 600 000 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2450" y="4719638"/>
            <a:ext cx="353258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Фотография эпохи «Billie Jean» с автографом, 41×51 см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90039" y="4672012"/>
            <a:ext cx="1001911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1 300 000 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2450" y="5119688"/>
            <a:ext cx="340920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«Farewell My Summer Love» — конверт с автографом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6765" y="5072062"/>
            <a:ext cx="1005185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1 050 000 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2450" y="5519738"/>
            <a:ext cx="388694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«Got To Be There» — конверт сольного дебюта с автографом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74412" y="5472112"/>
            <a:ext cx="1017538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1 000 000 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2450" y="5919788"/>
            <a:ext cx="394067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«Diana Ross Presents The Jackson 5» — конверт с автографом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79038" y="5872162"/>
            <a:ext cx="912912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900 000 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2450" y="6319838"/>
            <a:ext cx="320903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9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Автограф на отдельном листе в капсуле, 23×9 см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97791" y="6272212"/>
            <a:ext cx="894159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750 000 ₽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53150"/>
            <a:ext cx="12192000" cy="9525"/>
          </a:xfrm>
          <a:prstGeom prst="rect">
            <a:avLst/>
          </a:prstGeom>
          <a:solidFill>
            <a:srgbClr val="3A3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74237"/>
            <a:ext cx="1755130" cy="13334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3531543"/>
            <a:ext cx="6454229" cy="15094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61"/>
              </a:lnSpc>
            </a:pPr>
            <a:r>
              <a:rPr sz="33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Майкл Джексон. От первого сингла до последней пластинки с Куинси Джонсом.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6353175"/>
            <a:ext cx="118467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819" b="0" i="0" spc="198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STARGIFT.RU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