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image" Target="../media/image8.jpg"/><Relationship Id="rId4" Type="http://schemas.openxmlformats.org/officeDocument/2006/relationships/image" Target="../media/image9.jpg"/><Relationship Id="rId5" Type="http://schemas.openxmlformats.org/officeDocument/2006/relationships/image" Target="../media/image10.jpg"/><Relationship Id="rId6" Type="http://schemas.openxmlformats.org/officeDocument/2006/relationships/image" Target="../media/image11.jpg"/><Relationship Id="rId7" Type="http://schemas.openxmlformats.org/officeDocument/2006/relationships/image" Target="../media/image1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image" Target="../media/image19.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image" Target="../media/image22.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image" Target="../media/image25.jpg"/><Relationship Id="rId4" Type="http://schemas.openxmlformats.org/officeDocument/2006/relationships/image" Target="../media/image26.jpg"/><Relationship Id="rId5" Type="http://schemas.openxmlformats.org/officeDocument/2006/relationships/image" Target="../media/image27.jpg"/><Relationship Id="rId6" Type="http://schemas.openxmlformats.org/officeDocument/2006/relationships/image" Target="../media/image28.jpg"/><Relationship Id="rId7" Type="http://schemas.openxmlformats.org/officeDocument/2006/relationships/image" Target="../media/image29.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 Id="rId3" Type="http://schemas.openxmlformats.org/officeDocument/2006/relationships/image" Target="../media/image32.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B0B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m001.png"/>
          <p:cNvPicPr>
            <a:picLocks noChangeAspect="1"/>
          </p:cNvPicPr>
          <p:nvPr/>
        </p:nvPicPr>
        <p:blipFill>
          <a:blip r:embed="rId2"/>
          <a:stretch>
            <a:fillRect/>
          </a:stretch>
        </p:blipFill>
        <p:spPr>
          <a:xfrm>
            <a:off x="5976342" y="0"/>
            <a:ext cx="6215658" cy="6858000"/>
          </a:xfrm>
          <a:prstGeom prst="rect">
            <a:avLst/>
          </a:prstGeom>
        </p:spPr>
      </p:pic>
      <p:pic>
        <p:nvPicPr>
          <p:cNvPr id="4" name="Picture 3" descr="m002.png"/>
          <p:cNvPicPr>
            <a:picLocks noChangeAspect="1"/>
          </p:cNvPicPr>
          <p:nvPr/>
        </p:nvPicPr>
        <p:blipFill>
          <a:blip r:embed="rId3"/>
          <a:stretch>
            <a:fillRect/>
          </a:stretch>
        </p:blipFill>
        <p:spPr>
          <a:xfrm>
            <a:off x="495300" y="552465"/>
            <a:ext cx="1780282" cy="1352520"/>
          </a:xfrm>
          <a:prstGeom prst="rect">
            <a:avLst/>
          </a:prstGeom>
        </p:spPr>
      </p:pic>
      <p:sp>
        <p:nvSpPr>
          <p:cNvPr id="5" name="TextBox 4"/>
          <p:cNvSpPr txBox="1"/>
          <p:nvPr/>
        </p:nvSpPr>
        <p:spPr>
          <a:xfrm>
            <a:off x="457200" y="2744093"/>
            <a:ext cx="2710904" cy="209550"/>
          </a:xfrm>
          <a:prstGeom prst="rect">
            <a:avLst/>
          </a:prstGeom>
          <a:noFill/>
        </p:spPr>
        <p:txBody>
          <a:bodyPr wrap="square" lIns="0" rIns="0" tIns="0" bIns="0" anchor="t">
            <a:noAutofit/>
          </a:bodyPr>
          <a:lstStyle/>
          <a:p>
            <a:pPr algn="l">
              <a:lnSpc>
                <a:spcPts val="825"/>
              </a:lnSpc>
            </a:pPr>
            <a:r>
              <a:rPr sz="819" b="0" i="0" spc="297">
                <a:solidFill>
                  <a:srgbClr val="C9A96A"/>
                </a:solidFill>
                <a:latin typeface="Inter"/>
                <a:latin typeface="Inter"/>
                <a:ea typeface="Inter"/>
                <a:cs typeface="Inter"/>
              </a:rPr>
              <a:t>ЧАСТНОЕ СОБРАНИЕ · ГОЛЬФ</a:t>
            </a:r>
          </a:p>
        </p:txBody>
      </p:sp>
      <p:sp>
        <p:nvSpPr>
          <p:cNvPr id="6" name="TextBox 5"/>
          <p:cNvSpPr txBox="1"/>
          <p:nvPr/>
        </p:nvSpPr>
        <p:spPr>
          <a:xfrm>
            <a:off x="476250" y="3077468"/>
            <a:ext cx="5042892" cy="1343918"/>
          </a:xfrm>
          <a:prstGeom prst="rect">
            <a:avLst/>
          </a:prstGeom>
          <a:noFill/>
        </p:spPr>
        <p:txBody>
          <a:bodyPr wrap="square" lIns="0" rIns="0" tIns="0" bIns="0" anchor="t">
            <a:noAutofit/>
          </a:bodyPr>
          <a:lstStyle/>
          <a:p>
            <a:pPr algn="l">
              <a:lnSpc>
                <a:spcPts val="4992"/>
              </a:lnSpc>
            </a:pPr>
            <a:r>
              <a:rPr sz="4800" b="0" i="0">
                <a:solidFill>
                  <a:srgbClr val="F5F1E8"/>
                </a:solidFill>
                <a:latin typeface="Cormorant Garamond"/>
                <a:latin typeface="Cormorant Garamond"/>
                <a:ea typeface="Cormorant Garamond"/>
                <a:cs typeface="Cormorant Garamond"/>
              </a:rPr>
              <a:t>Клюшки легенд</a:t>
            </a:r>
          </a:p>
          <a:p>
            <a:pPr algn="l">
              <a:lnSpc>
                <a:spcPts val="4992"/>
              </a:lnSpc>
            </a:pPr>
            <a:r>
              <a:rPr sz="4800" b="0" i="0">
                <a:solidFill>
                  <a:srgbClr val="F5F1E8"/>
                </a:solidFill>
                <a:latin typeface="Cormorant Garamond"/>
                <a:latin typeface="Cormorant Garamond"/>
                <a:ea typeface="Cormorant Garamond"/>
                <a:cs typeface="Cormorant Garamond"/>
              </a:rPr>
              <a:t>и флаги Мастерса</a:t>
            </a:r>
          </a:p>
        </p:txBody>
      </p:sp>
      <p:sp>
        <p:nvSpPr>
          <p:cNvPr id="7" name="TextBox 6"/>
          <p:cNvSpPr txBox="1"/>
          <p:nvPr/>
        </p:nvSpPr>
        <p:spPr>
          <a:xfrm>
            <a:off x="476250" y="4554736"/>
            <a:ext cx="4199037" cy="825847"/>
          </a:xfrm>
          <a:prstGeom prst="rect">
            <a:avLst/>
          </a:prstGeom>
          <a:noFill/>
        </p:spPr>
        <p:txBody>
          <a:bodyPr wrap="square" lIns="0" rIns="0" tIns="0" bIns="0" anchor="t">
            <a:noAutofit/>
          </a:bodyPr>
          <a:lstStyle/>
          <a:p>
            <a:pPr algn="l">
              <a:lnSpc>
                <a:spcPts val="1968"/>
              </a:lnSpc>
            </a:pPr>
            <a:r>
              <a:rPr sz="1200" b="0" i="0">
                <a:solidFill>
                  <a:srgbClr val="B8B2A6"/>
                </a:solidFill>
                <a:latin typeface="Inter"/>
                <a:latin typeface="Inter"/>
                <a:ea typeface="Inter"/>
                <a:cs typeface="Inter"/>
              </a:rPr>
              <a:t>Шесть предметов: три клюшки, которыми играли Бобби Джонс, Генри Пикард и Арнольд Палмер, и три флага Огасты с автографами чемпионов турнира.</a:t>
            </a:r>
          </a:p>
        </p:txBody>
      </p:sp>
      <p:sp>
        <p:nvSpPr>
          <p:cNvPr id="8" name="TextBox 7"/>
          <p:cNvSpPr txBox="1"/>
          <p:nvPr/>
        </p:nvSpPr>
        <p:spPr>
          <a:xfrm>
            <a:off x="457200" y="6162526"/>
            <a:ext cx="2281833" cy="209550"/>
          </a:xfrm>
          <a:prstGeom prst="rect">
            <a:avLst/>
          </a:prstGeom>
          <a:noFill/>
        </p:spPr>
        <p:txBody>
          <a:bodyPr wrap="square" lIns="0" rIns="0" tIns="0" bIns="0" anchor="t">
            <a:noAutofit/>
          </a:bodyPr>
          <a:lstStyle/>
          <a:p>
            <a:pPr algn="l">
              <a:lnSpc>
                <a:spcPts val="825"/>
              </a:lnSpc>
            </a:pPr>
            <a:r>
              <a:rPr sz="819" b="0" i="0" spc="198">
                <a:solidFill>
                  <a:srgbClr val="A98545"/>
                </a:solidFill>
                <a:latin typeface="Inter"/>
                <a:latin typeface="Inter"/>
                <a:ea typeface="Inter"/>
                <a:cs typeface="Inter"/>
              </a:rPr>
              <a:t>6 ПРЕДМЕТОВ · ИЮЛЬ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B0B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34700" y="3730228"/>
            <a:ext cx="666750" cy="9525"/>
          </a:xfrm>
          <a:prstGeom prst="rect">
            <a:avLst/>
          </a:prstGeom>
          <a:solidFill>
            <a:srgbClr val="624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003.png"/>
          <p:cNvPicPr>
            <a:picLocks noChangeAspect="1"/>
          </p:cNvPicPr>
          <p:nvPr/>
        </p:nvPicPr>
        <p:blipFill>
          <a:blip r:embed="rId2"/>
          <a:stretch>
            <a:fillRect/>
          </a:stretch>
        </p:blipFill>
        <p:spPr>
          <a:xfrm>
            <a:off x="0" y="0"/>
            <a:ext cx="12192000" cy="6858000"/>
          </a:xfrm>
          <a:prstGeom prst="rect">
            <a:avLst/>
          </a:prstGeom>
        </p:spPr>
      </p:pic>
      <p:sp>
        <p:nvSpPr>
          <p:cNvPr id="5" name="TextBox 4"/>
          <p:cNvSpPr txBox="1"/>
          <p:nvPr/>
        </p:nvSpPr>
        <p:spPr>
          <a:xfrm>
            <a:off x="10051852" y="1701403"/>
            <a:ext cx="1606748" cy="209550"/>
          </a:xfrm>
          <a:prstGeom prst="rect">
            <a:avLst/>
          </a:prstGeom>
          <a:noFill/>
        </p:spPr>
        <p:txBody>
          <a:bodyPr wrap="square" lIns="0" rIns="0" tIns="0" bIns="0" anchor="t">
            <a:noAutofit/>
          </a:bodyPr>
          <a:lstStyle/>
          <a:p>
            <a:pPr algn="r">
              <a:lnSpc>
                <a:spcPts val="825"/>
              </a:lnSpc>
            </a:pPr>
            <a:r>
              <a:rPr sz="819" b="0" i="0" spc="247">
                <a:solidFill>
                  <a:srgbClr val="C9A96A"/>
                </a:solidFill>
                <a:latin typeface="Inter"/>
                <a:latin typeface="Inter"/>
                <a:ea typeface="Inter"/>
                <a:cs typeface="Inter"/>
              </a:rPr>
              <a:t>КЛЮШКИ ЛЕГЕНД</a:t>
            </a:r>
          </a:p>
        </p:txBody>
      </p:sp>
      <p:sp>
        <p:nvSpPr>
          <p:cNvPr id="6" name="TextBox 5"/>
          <p:cNvSpPr txBox="1"/>
          <p:nvPr/>
        </p:nvSpPr>
        <p:spPr>
          <a:xfrm>
            <a:off x="7720608" y="2034778"/>
            <a:ext cx="3918942" cy="1504950"/>
          </a:xfrm>
          <a:prstGeom prst="rect">
            <a:avLst/>
          </a:prstGeom>
          <a:noFill/>
        </p:spPr>
        <p:txBody>
          <a:bodyPr wrap="square" lIns="0" rIns="0" tIns="0" bIns="0" anchor="t">
            <a:noAutofit/>
          </a:bodyPr>
          <a:lstStyle/>
          <a:p>
            <a:pPr algn="r">
              <a:lnSpc>
                <a:spcPts val="3750"/>
              </a:lnSpc>
            </a:pPr>
            <a:r>
              <a:rPr sz="3750" b="0" i="0">
                <a:solidFill>
                  <a:srgbClr val="F5F1E8"/>
                </a:solidFill>
                <a:latin typeface="Cormorant Garamond"/>
                <a:latin typeface="Cormorant Garamond"/>
                <a:ea typeface="Cormorant Garamond"/>
                <a:cs typeface="Cormorant Garamond"/>
              </a:rPr>
              <a:t>Инструмент, которым</a:t>
            </a:r>
          </a:p>
          <a:p>
            <a:pPr algn="r">
              <a:lnSpc>
                <a:spcPts val="3750"/>
              </a:lnSpc>
            </a:pPr>
            <a:r>
              <a:rPr sz="3750" b="0" i="0">
                <a:solidFill>
                  <a:srgbClr val="F5F1E8"/>
                </a:solidFill>
                <a:latin typeface="Cormorant Garamond"/>
                <a:latin typeface="Cormorant Garamond"/>
                <a:ea typeface="Cormorant Garamond"/>
                <a:cs typeface="Cormorant Garamond"/>
              </a:rPr>
              <a:t>выигрывали</a:t>
            </a:r>
          </a:p>
        </p:txBody>
      </p:sp>
      <p:sp>
        <p:nvSpPr>
          <p:cNvPr id="7" name="TextBox 6"/>
          <p:cNvSpPr txBox="1"/>
          <p:nvPr/>
        </p:nvSpPr>
        <p:spPr>
          <a:xfrm>
            <a:off x="7346454" y="3968353"/>
            <a:ext cx="4293096" cy="1207294"/>
          </a:xfrm>
          <a:prstGeom prst="rect">
            <a:avLst/>
          </a:prstGeom>
          <a:noFill/>
        </p:spPr>
        <p:txBody>
          <a:bodyPr wrap="square" lIns="0" rIns="0" tIns="0" bIns="0" anchor="t">
            <a:noAutofit/>
          </a:bodyPr>
          <a:lstStyle/>
          <a:p>
            <a:pPr algn="r">
              <a:lnSpc>
                <a:spcPts val="2227"/>
              </a:lnSpc>
            </a:pPr>
            <a:r>
              <a:rPr sz="1350" b="0" i="0">
                <a:solidFill>
                  <a:srgbClr val="C9C3B7"/>
                </a:solidFill>
                <a:latin typeface="Inter"/>
                <a:latin typeface="Inter"/>
                <a:ea typeface="Inter"/>
                <a:cs typeface="Inter"/>
              </a:rPr>
              <a:t>Клюшка отличается от любого другого экспоната одним: ею работали. Следы на подошве и потёртая рукоять — это отпечаток самой игры, а не хранения.</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m004.jpg"/>
          <p:cNvPicPr>
            <a:picLocks noChangeAspect="1"/>
          </p:cNvPicPr>
          <p:nvPr/>
        </p:nvPicPr>
        <p:blipFill>
          <a:blip r:embed="rId2"/>
          <a:srcRect/>
          <a:stretch>
            <a:fillRect/>
          </a:stretch>
        </p:blipFill>
        <p:spPr>
          <a:xfrm>
            <a:off x="0" y="0"/>
            <a:ext cx="6096000" cy="6858000"/>
          </a:xfrm>
          <a:prstGeom prst="rect">
            <a:avLst/>
          </a:prstGeom>
        </p:spPr>
      </p:pic>
      <p:sp>
        <p:nvSpPr>
          <p:cNvPr id="4" name="TextBox 3"/>
          <p:cNvSpPr txBox="1"/>
          <p:nvPr/>
        </p:nvSpPr>
        <p:spPr>
          <a:xfrm>
            <a:off x="6305550" y="1931938"/>
            <a:ext cx="1702743" cy="209550"/>
          </a:xfrm>
          <a:prstGeom prst="rect">
            <a:avLst/>
          </a:prstGeom>
          <a:noFill/>
        </p:spPr>
        <p:txBody>
          <a:bodyPr wrap="square" lIns="0" rIns="0" tIns="0" bIns="0" anchor="t">
            <a:noAutofit/>
          </a:bodyPr>
          <a:lstStyle/>
          <a:p>
            <a:pPr algn="l">
              <a:lnSpc>
                <a:spcPts val="825"/>
              </a:lnSpc>
            </a:pPr>
            <a:r>
              <a:rPr sz="819" b="0" i="0" spc="297">
                <a:solidFill>
                  <a:srgbClr val="A98545"/>
                </a:solidFill>
                <a:latin typeface="Inter"/>
                <a:latin typeface="Inter"/>
                <a:ea typeface="Inter"/>
                <a:cs typeface="Inter"/>
              </a:rPr>
              <a:t>КЛЮШКИ · 1 ИЗ 6</a:t>
            </a:r>
          </a:p>
        </p:txBody>
      </p:sp>
      <p:sp>
        <p:nvSpPr>
          <p:cNvPr id="5" name="TextBox 4"/>
          <p:cNvSpPr txBox="1"/>
          <p:nvPr/>
        </p:nvSpPr>
        <p:spPr>
          <a:xfrm>
            <a:off x="6324600" y="2189113"/>
            <a:ext cx="5372100" cy="689372"/>
          </a:xfrm>
          <a:prstGeom prst="rect">
            <a:avLst/>
          </a:prstGeom>
          <a:noFill/>
        </p:spPr>
        <p:txBody>
          <a:bodyPr wrap="square" lIns="0" rIns="0" tIns="0" bIns="0" anchor="t">
            <a:noAutofit/>
          </a:bodyPr>
          <a:lstStyle/>
          <a:p>
            <a:pPr algn="l">
              <a:lnSpc>
                <a:spcPts val="2415"/>
              </a:lnSpc>
            </a:pPr>
            <a:r>
              <a:rPr sz="2100" b="0" i="0">
                <a:solidFill>
                  <a:srgbClr val="1A1A1A"/>
                </a:solidFill>
                <a:latin typeface="Cormorant Garamond"/>
                <a:latin typeface="Cormorant Garamond"/>
                <a:ea typeface="Cormorant Garamond"/>
                <a:cs typeface="Cormorant Garamond"/>
              </a:rPr>
              <a:t>Бобби Джонс — драйвер Jack White из его личных клюшек и подписанная фотография</a:t>
            </a:r>
          </a:p>
        </p:txBody>
      </p:sp>
      <p:sp>
        <p:nvSpPr>
          <p:cNvPr id="6" name="TextBox 5"/>
          <p:cNvSpPr txBox="1"/>
          <p:nvPr/>
        </p:nvSpPr>
        <p:spPr>
          <a:xfrm>
            <a:off x="6324600" y="2935635"/>
            <a:ext cx="5372100" cy="1247477"/>
          </a:xfrm>
          <a:prstGeom prst="rect">
            <a:avLst/>
          </a:prstGeom>
          <a:noFill/>
        </p:spPr>
        <p:txBody>
          <a:bodyPr wrap="square" lIns="0" rIns="0" tIns="0" bIns="0" anchor="t">
            <a:noAutofit/>
          </a:bodyPr>
          <a:lstStyle/>
          <a:p>
            <a:pPr algn="l">
              <a:lnSpc>
                <a:spcPts val="1845"/>
              </a:lnSpc>
            </a:pPr>
            <a:r>
              <a:rPr sz="1120" b="0" i="0">
                <a:solidFill>
                  <a:srgbClr val="4A4A4A"/>
                </a:solidFill>
                <a:latin typeface="Inter"/>
                <a:latin typeface="Inter"/>
                <a:ea typeface="Inter"/>
                <a:cs typeface="Inter"/>
              </a:rPr>
              <a:t>Драйвер работы Джека Уайта из Гуллана — мастера, выигравшего Открытый чемпионат Британии 1904 года. Джонс перепробовал шестнадцать драйверов этой мастерской, прежде чем выбрать один для сезона 1930 года, когда взял все четыре главных турнира подряд. Головка из хурмы, латунная лента с клеймом мастера, древко из гикори.</a:t>
            </a:r>
          </a:p>
        </p:txBody>
      </p:sp>
      <p:sp>
        <p:nvSpPr>
          <p:cNvPr id="7" name="TextBox 6"/>
          <p:cNvSpPr txBox="1"/>
          <p:nvPr/>
        </p:nvSpPr>
        <p:spPr>
          <a:xfrm>
            <a:off x="6305550" y="4278362"/>
            <a:ext cx="1454795" cy="428625"/>
          </a:xfrm>
          <a:prstGeom prst="rect">
            <a:avLst/>
          </a:prstGeom>
          <a:noFill/>
        </p:spPr>
        <p:txBody>
          <a:bodyPr wrap="square" lIns="0" rIns="0" tIns="0" bIns="0" anchor="t">
            <a:noAutofit/>
          </a:bodyPr>
          <a:lstStyle/>
          <a:p>
            <a:pPr algn="l">
              <a:lnSpc>
                <a:spcPts val="2700"/>
              </a:lnSpc>
            </a:pPr>
            <a:r>
              <a:rPr sz="2250" b="0" i="0">
                <a:solidFill>
                  <a:srgbClr val="A98545"/>
                </a:solidFill>
                <a:latin typeface="Cormorant Garamond"/>
                <a:latin typeface="Cormorant Garamond"/>
                <a:ea typeface="Cormorant Garamond"/>
                <a:cs typeface="Cormorant Garamond"/>
              </a:rPr>
              <a:t>1 050 000 ₽</a:t>
            </a:r>
          </a:p>
        </p:txBody>
      </p:sp>
      <p:sp>
        <p:nvSpPr>
          <p:cNvPr id="8" name="TextBox 7"/>
          <p:cNvSpPr txBox="1"/>
          <p:nvPr/>
        </p:nvSpPr>
        <p:spPr>
          <a:xfrm>
            <a:off x="6305550" y="4735562"/>
            <a:ext cx="3567857" cy="190500"/>
          </a:xfrm>
          <a:prstGeom prst="rect">
            <a:avLst/>
          </a:prstGeom>
          <a:noFill/>
        </p:spPr>
        <p:txBody>
          <a:bodyPr wrap="square" lIns="0" rIns="0" tIns="0" bIns="0" anchor="t">
            <a:noAutofit/>
          </a:bodyPr>
          <a:lstStyle/>
          <a:p>
            <a:pPr algn="l">
              <a:lnSpc>
                <a:spcPts val="1125"/>
              </a:lnSpc>
            </a:pPr>
            <a:r>
              <a:rPr sz="750" b="0" i="0" spc="135">
                <a:solidFill>
                  <a:srgbClr val="9A958C"/>
                </a:solidFill>
                <a:latin typeface="Inter"/>
                <a:latin typeface="Inter"/>
                <a:ea typeface="Inter"/>
                <a:cs typeface="Inter"/>
              </a:rPr>
              <a:t>ДРАЙВЕР · ХУРМА И ГИКОРИ · JACK WHITE, GULLANE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m005.jpg"/>
          <p:cNvPicPr>
            <a:picLocks noChangeAspect="1"/>
          </p:cNvPicPr>
          <p:nvPr/>
        </p:nvPicPr>
        <p:blipFill>
          <a:blip r:embed="rId2"/>
          <a:stretch>
            <a:fillRect/>
          </a:stretch>
        </p:blipFill>
        <p:spPr>
          <a:xfrm>
            <a:off x="1716881" y="1094482"/>
            <a:ext cx="3071812" cy="4095750"/>
          </a:xfrm>
          <a:prstGeom prst="rect">
            <a:avLst/>
          </a:prstGeom>
        </p:spPr>
      </p:pic>
      <p:pic>
        <p:nvPicPr>
          <p:cNvPr id="4" name="Picture 3" descr="m006.jpg"/>
          <p:cNvPicPr>
            <a:picLocks noChangeAspect="1"/>
          </p:cNvPicPr>
          <p:nvPr/>
        </p:nvPicPr>
        <p:blipFill>
          <a:blip r:embed="rId3"/>
          <a:stretch>
            <a:fillRect/>
          </a:stretch>
        </p:blipFill>
        <p:spPr>
          <a:xfrm>
            <a:off x="6891338" y="1094482"/>
            <a:ext cx="4095750" cy="4095750"/>
          </a:xfrm>
          <a:prstGeom prst="rect">
            <a:avLst/>
          </a:prstGeom>
        </p:spPr>
      </p:pic>
      <p:sp>
        <p:nvSpPr>
          <p:cNvPr id="5" name="TextBox 4"/>
          <p:cNvSpPr txBox="1"/>
          <p:nvPr/>
        </p:nvSpPr>
        <p:spPr>
          <a:xfrm>
            <a:off x="533400" y="266700"/>
            <a:ext cx="2816126" cy="371475"/>
          </a:xfrm>
          <a:prstGeom prst="rect">
            <a:avLst/>
          </a:prstGeom>
          <a:noFill/>
        </p:spPr>
        <p:txBody>
          <a:bodyPr wrap="square" lIns="0" rIns="0" tIns="0" bIns="0" anchor="t">
            <a:noAutofit/>
          </a:bodyPr>
          <a:lstStyle/>
          <a:p>
            <a:pPr algn="l">
              <a:lnSpc>
                <a:spcPts val="2340"/>
              </a:lnSpc>
            </a:pPr>
            <a:r>
              <a:rPr sz="1950" b="0" i="0">
                <a:solidFill>
                  <a:srgbClr val="1A1A1A"/>
                </a:solidFill>
                <a:latin typeface="Cormorant Garamond"/>
                <a:latin typeface="Cormorant Garamond"/>
                <a:ea typeface="Cormorant Garamond"/>
                <a:cs typeface="Cormorant Garamond"/>
              </a:rPr>
              <a:t>Бобби Джонс · провенанс</a:t>
            </a:r>
          </a:p>
        </p:txBody>
      </p:sp>
      <p:sp>
        <p:nvSpPr>
          <p:cNvPr id="6" name="TextBox 5"/>
          <p:cNvSpPr txBox="1"/>
          <p:nvPr/>
        </p:nvSpPr>
        <p:spPr>
          <a:xfrm>
            <a:off x="10108257" y="390525"/>
            <a:ext cx="1702743" cy="209550"/>
          </a:xfrm>
          <a:prstGeom prst="rect">
            <a:avLst/>
          </a:prstGeom>
          <a:noFill/>
        </p:spPr>
        <p:txBody>
          <a:bodyPr wrap="square" lIns="0" rIns="0" tIns="0" bIns="0" anchor="t">
            <a:noAutofit/>
          </a:bodyPr>
          <a:lstStyle/>
          <a:p>
            <a:pPr algn="l">
              <a:lnSpc>
                <a:spcPts val="825"/>
              </a:lnSpc>
            </a:pPr>
            <a:r>
              <a:rPr sz="819" b="0" i="0" spc="297">
                <a:solidFill>
                  <a:srgbClr val="A98545"/>
                </a:solidFill>
                <a:latin typeface="Inter"/>
                <a:latin typeface="Inter"/>
                <a:ea typeface="Inter"/>
                <a:cs typeface="Inter"/>
              </a:rPr>
              <a:t>КЛЮШКИ · 1 ИЗ 6</a:t>
            </a:r>
          </a:p>
        </p:txBody>
      </p:sp>
      <p:sp>
        <p:nvSpPr>
          <p:cNvPr id="7" name="TextBox 6"/>
          <p:cNvSpPr txBox="1"/>
          <p:nvPr/>
        </p:nvSpPr>
        <p:spPr>
          <a:xfrm>
            <a:off x="1069925" y="5266432"/>
            <a:ext cx="4384774" cy="190500"/>
          </a:xfrm>
          <a:prstGeom prst="rect">
            <a:avLst/>
          </a:prstGeom>
          <a:noFill/>
        </p:spPr>
        <p:txBody>
          <a:bodyPr wrap="square" lIns="0" rIns="0" tIns="0" bIns="0" anchor="t">
            <a:noAutofit/>
          </a:bodyPr>
          <a:lstStyle/>
          <a:p>
            <a:pPr algn="ctr">
              <a:lnSpc>
                <a:spcPts val="1125"/>
              </a:lnSpc>
            </a:pPr>
            <a:r>
              <a:rPr sz="750" b="0" i="0" spc="120">
                <a:solidFill>
                  <a:srgbClr val="9A958C"/>
                </a:solidFill>
                <a:latin typeface="Inter"/>
                <a:latin typeface="Inter"/>
                <a:ea typeface="Inter"/>
                <a:cs typeface="Inter"/>
              </a:rPr>
              <a:t>СПРАВОЧНИК КЛЮШЕК ДЖОНСА · ГЛАВА «THE JACK WHITE DRIVER»</a:t>
            </a:r>
          </a:p>
        </p:txBody>
      </p:sp>
      <p:sp>
        <p:nvSpPr>
          <p:cNvPr id="8" name="TextBox 7"/>
          <p:cNvSpPr txBox="1"/>
          <p:nvPr/>
        </p:nvSpPr>
        <p:spPr>
          <a:xfrm>
            <a:off x="6919615" y="5266432"/>
            <a:ext cx="4058096" cy="190500"/>
          </a:xfrm>
          <a:prstGeom prst="rect">
            <a:avLst/>
          </a:prstGeom>
          <a:noFill/>
        </p:spPr>
        <p:txBody>
          <a:bodyPr wrap="square" lIns="0" rIns="0" tIns="0" bIns="0" anchor="t">
            <a:noAutofit/>
          </a:bodyPr>
          <a:lstStyle/>
          <a:p>
            <a:pPr algn="ctr">
              <a:lnSpc>
                <a:spcPts val="1125"/>
              </a:lnSpc>
            </a:pPr>
            <a:r>
              <a:rPr sz="750" b="0" i="0" spc="120">
                <a:solidFill>
                  <a:srgbClr val="9A958C"/>
                </a:solidFill>
                <a:latin typeface="Inter"/>
                <a:latin typeface="Inter"/>
                <a:ea typeface="Inter"/>
                <a:cs typeface="Inter"/>
              </a:rPr>
              <a:t>ПИСЬМО ДЖОНСА, 25 ЯНВАРЯ 1934 ГОДА, ПОДПИСАНО «BOB»</a:t>
            </a:r>
          </a:p>
        </p:txBody>
      </p:sp>
      <p:sp>
        <p:nvSpPr>
          <p:cNvPr id="9" name="TextBox 8"/>
          <p:cNvSpPr txBox="1"/>
          <p:nvPr/>
        </p:nvSpPr>
        <p:spPr>
          <a:xfrm>
            <a:off x="-19050" y="5741938"/>
            <a:ext cx="8623250" cy="1173212"/>
          </a:xfrm>
          <a:prstGeom prst="rect">
            <a:avLst/>
          </a:prstGeom>
          <a:noFill/>
        </p:spPr>
        <p:txBody>
          <a:bodyPr wrap="square" lIns="0" rIns="0" tIns="0" bIns="0" anchor="t">
            <a:noAutofit/>
          </a:bodyPr>
          <a:lstStyle/>
          <a:p>
            <a:pPr algn="l">
              <a:lnSpc>
                <a:spcPts val="1680"/>
              </a:lnSpc>
            </a:pPr>
            <a:r>
              <a:rPr sz="1050" b="0" i="0">
                <a:solidFill>
                  <a:srgbClr val="4A4A4A"/>
                </a:solidFill>
                <a:latin typeface="Inter"/>
                <a:latin typeface="Inter"/>
                <a:ea typeface="Inter"/>
                <a:cs typeface="Inter"/>
              </a:rPr>
              <a:t>К клюшке приложены страницы каталога клюшек Джонса с отдельной главой об этой модели и машинописное письмо 1934 года на его бланке — Джонс отвечает Фрэнку Сэмпсону о материале для мартовского номера The American Golfer и подписывает его коротким «Bob».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m007.jpg"/>
          <p:cNvPicPr>
            <a:picLocks noChangeAspect="1"/>
          </p:cNvPicPr>
          <p:nvPr/>
        </p:nvPicPr>
        <p:blipFill>
          <a:blip r:embed="rId2"/>
          <a:stretch>
            <a:fillRect/>
          </a:stretch>
        </p:blipFill>
        <p:spPr>
          <a:xfrm>
            <a:off x="1092299" y="771525"/>
            <a:ext cx="2539802" cy="1904851"/>
          </a:xfrm>
          <a:prstGeom prst="rect">
            <a:avLst/>
          </a:prstGeom>
        </p:spPr>
      </p:pic>
      <p:pic>
        <p:nvPicPr>
          <p:cNvPr id="4" name="Picture 3" descr="m008.jpg"/>
          <p:cNvPicPr>
            <a:picLocks noChangeAspect="1"/>
          </p:cNvPicPr>
          <p:nvPr/>
        </p:nvPicPr>
        <p:blipFill>
          <a:blip r:embed="rId3"/>
          <a:stretch>
            <a:fillRect/>
          </a:stretch>
        </p:blipFill>
        <p:spPr>
          <a:xfrm>
            <a:off x="5244716" y="771525"/>
            <a:ext cx="1702419" cy="1904851"/>
          </a:xfrm>
          <a:prstGeom prst="rect">
            <a:avLst/>
          </a:prstGeom>
        </p:spPr>
      </p:pic>
      <p:pic>
        <p:nvPicPr>
          <p:cNvPr id="5" name="Picture 4" descr="m009.jpg"/>
          <p:cNvPicPr>
            <a:picLocks noChangeAspect="1"/>
          </p:cNvPicPr>
          <p:nvPr/>
        </p:nvPicPr>
        <p:blipFill>
          <a:blip r:embed="rId4"/>
          <a:stretch>
            <a:fillRect/>
          </a:stretch>
        </p:blipFill>
        <p:spPr>
          <a:xfrm>
            <a:off x="9115425" y="771525"/>
            <a:ext cx="1428750" cy="1905000"/>
          </a:xfrm>
          <a:prstGeom prst="rect">
            <a:avLst/>
          </a:prstGeom>
        </p:spPr>
      </p:pic>
      <p:pic>
        <p:nvPicPr>
          <p:cNvPr id="6" name="Picture 5" descr="m010.jpg"/>
          <p:cNvPicPr>
            <a:picLocks noChangeAspect="1"/>
          </p:cNvPicPr>
          <p:nvPr/>
        </p:nvPicPr>
        <p:blipFill>
          <a:blip r:embed="rId5"/>
          <a:stretch>
            <a:fillRect/>
          </a:stretch>
        </p:blipFill>
        <p:spPr>
          <a:xfrm>
            <a:off x="1092299" y="3342382"/>
            <a:ext cx="2539802" cy="1904851"/>
          </a:xfrm>
          <a:prstGeom prst="rect">
            <a:avLst/>
          </a:prstGeom>
        </p:spPr>
      </p:pic>
      <p:pic>
        <p:nvPicPr>
          <p:cNvPr id="7" name="Picture 6" descr="m011.jpg"/>
          <p:cNvPicPr>
            <a:picLocks noChangeAspect="1"/>
          </p:cNvPicPr>
          <p:nvPr/>
        </p:nvPicPr>
        <p:blipFill>
          <a:blip r:embed="rId6"/>
          <a:stretch>
            <a:fillRect/>
          </a:stretch>
        </p:blipFill>
        <p:spPr>
          <a:xfrm>
            <a:off x="4826099" y="3342382"/>
            <a:ext cx="2539802" cy="1904851"/>
          </a:xfrm>
          <a:prstGeom prst="rect">
            <a:avLst/>
          </a:prstGeom>
        </p:spPr>
      </p:pic>
      <p:pic>
        <p:nvPicPr>
          <p:cNvPr id="8" name="Picture 7" descr="m012.jpg"/>
          <p:cNvPicPr>
            <a:picLocks noChangeAspect="1"/>
          </p:cNvPicPr>
          <p:nvPr/>
        </p:nvPicPr>
        <p:blipFill>
          <a:blip r:embed="rId7"/>
          <a:stretch>
            <a:fillRect/>
          </a:stretch>
        </p:blipFill>
        <p:spPr>
          <a:xfrm>
            <a:off x="8073418" y="3342382"/>
            <a:ext cx="3512615" cy="1904851"/>
          </a:xfrm>
          <a:prstGeom prst="rect">
            <a:avLst/>
          </a:prstGeom>
        </p:spPr>
      </p:pic>
      <p:sp>
        <p:nvSpPr>
          <p:cNvPr id="9" name="TextBox 8"/>
          <p:cNvSpPr txBox="1"/>
          <p:nvPr/>
        </p:nvSpPr>
        <p:spPr>
          <a:xfrm>
            <a:off x="533400" y="266700"/>
            <a:ext cx="3457724" cy="371475"/>
          </a:xfrm>
          <a:prstGeom prst="rect">
            <a:avLst/>
          </a:prstGeom>
          <a:noFill/>
        </p:spPr>
        <p:txBody>
          <a:bodyPr wrap="square" lIns="0" rIns="0" tIns="0" bIns="0" anchor="t">
            <a:noAutofit/>
          </a:bodyPr>
          <a:lstStyle/>
          <a:p>
            <a:pPr algn="l">
              <a:lnSpc>
                <a:spcPts val="2340"/>
              </a:lnSpc>
            </a:pPr>
            <a:r>
              <a:rPr sz="1950" b="0" i="0">
                <a:solidFill>
                  <a:srgbClr val="1A1A1A"/>
                </a:solidFill>
                <a:latin typeface="Cormorant Garamond"/>
                <a:latin typeface="Cormorant Garamond"/>
                <a:ea typeface="Cormorant Garamond"/>
                <a:cs typeface="Cormorant Garamond"/>
              </a:rPr>
              <a:t>Бобби Джонс · клюшка целиком</a:t>
            </a:r>
          </a:p>
        </p:txBody>
      </p:sp>
      <p:sp>
        <p:nvSpPr>
          <p:cNvPr id="10" name="TextBox 9"/>
          <p:cNvSpPr txBox="1"/>
          <p:nvPr/>
        </p:nvSpPr>
        <p:spPr>
          <a:xfrm>
            <a:off x="10108257" y="390525"/>
            <a:ext cx="1702743" cy="209550"/>
          </a:xfrm>
          <a:prstGeom prst="rect">
            <a:avLst/>
          </a:prstGeom>
          <a:noFill/>
        </p:spPr>
        <p:txBody>
          <a:bodyPr wrap="square" lIns="0" rIns="0" tIns="0" bIns="0" anchor="t">
            <a:noAutofit/>
          </a:bodyPr>
          <a:lstStyle/>
          <a:p>
            <a:pPr algn="l">
              <a:lnSpc>
                <a:spcPts val="825"/>
              </a:lnSpc>
            </a:pPr>
            <a:r>
              <a:rPr sz="819" b="0" i="0" spc="297">
                <a:solidFill>
                  <a:srgbClr val="A98545"/>
                </a:solidFill>
                <a:latin typeface="Inter"/>
                <a:latin typeface="Inter"/>
                <a:ea typeface="Inter"/>
                <a:cs typeface="Inter"/>
              </a:rPr>
              <a:t>КЛЮШКИ · 1 ИЗ 6</a:t>
            </a:r>
          </a:p>
        </p:txBody>
      </p:sp>
      <p:sp>
        <p:nvSpPr>
          <p:cNvPr id="11" name="TextBox 10"/>
          <p:cNvSpPr txBox="1"/>
          <p:nvPr/>
        </p:nvSpPr>
        <p:spPr>
          <a:xfrm>
            <a:off x="-19050" y="5741938"/>
            <a:ext cx="8623250" cy="1173212"/>
          </a:xfrm>
          <a:prstGeom prst="rect">
            <a:avLst/>
          </a:prstGeom>
          <a:noFill/>
        </p:spPr>
        <p:txBody>
          <a:bodyPr wrap="square" lIns="0" rIns="0" tIns="0" bIns="0" anchor="t">
            <a:noAutofit/>
          </a:bodyPr>
          <a:lstStyle/>
          <a:p>
            <a:pPr algn="l">
              <a:lnSpc>
                <a:spcPts val="1680"/>
              </a:lnSpc>
            </a:pPr>
            <a:r>
              <a:rPr sz="1050" b="0" i="0">
                <a:solidFill>
                  <a:srgbClr val="4A4A4A"/>
                </a:solidFill>
                <a:latin typeface="Inter"/>
                <a:latin typeface="Inter"/>
                <a:ea typeface="Inter"/>
                <a:cs typeface="Inter"/>
              </a:rPr>
              <a:t>Оригинальные кадры лота: клюшка в полную длину, головка с латунной лентой и клеймом мастера, подошва. Ниже — подписанная фотография, которая идёт вместе с клюшкой, она же рядом с самой клюшкой, и росчерк «Bob Jones» крупно.</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B0B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34700" y="3492103"/>
            <a:ext cx="666750" cy="9525"/>
          </a:xfrm>
          <a:prstGeom prst="rect">
            <a:avLst/>
          </a:prstGeom>
          <a:solidFill>
            <a:srgbClr val="624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013.png"/>
          <p:cNvPicPr>
            <a:picLocks noChangeAspect="1"/>
          </p:cNvPicPr>
          <p:nvPr/>
        </p:nvPicPr>
        <p:blipFill>
          <a:blip r:embed="rId2"/>
          <a:stretch>
            <a:fillRect/>
          </a:stretch>
        </p:blipFill>
        <p:spPr>
          <a:xfrm>
            <a:off x="0" y="0"/>
            <a:ext cx="12192000" cy="6858000"/>
          </a:xfrm>
          <a:prstGeom prst="rect">
            <a:avLst/>
          </a:prstGeom>
        </p:spPr>
      </p:pic>
      <p:sp>
        <p:nvSpPr>
          <p:cNvPr id="5" name="TextBox 4"/>
          <p:cNvSpPr txBox="1"/>
          <p:nvPr/>
        </p:nvSpPr>
        <p:spPr>
          <a:xfrm>
            <a:off x="9853612" y="1939528"/>
            <a:ext cx="1804988" cy="209550"/>
          </a:xfrm>
          <a:prstGeom prst="rect">
            <a:avLst/>
          </a:prstGeom>
          <a:noFill/>
        </p:spPr>
        <p:txBody>
          <a:bodyPr wrap="square" lIns="0" rIns="0" tIns="0" bIns="0" anchor="t">
            <a:noAutofit/>
          </a:bodyPr>
          <a:lstStyle/>
          <a:p>
            <a:pPr algn="r">
              <a:lnSpc>
                <a:spcPts val="825"/>
              </a:lnSpc>
            </a:pPr>
            <a:r>
              <a:rPr sz="819" b="0" i="0" spc="247">
                <a:solidFill>
                  <a:srgbClr val="C9A96A"/>
                </a:solidFill>
                <a:latin typeface="Inter"/>
                <a:latin typeface="Inter"/>
                <a:ea typeface="Inter"/>
                <a:cs typeface="Inter"/>
              </a:rPr>
              <a:t>ФЛАГИ ЧЕМПИОНОВ</a:t>
            </a:r>
          </a:p>
        </p:txBody>
      </p:sp>
      <p:sp>
        <p:nvSpPr>
          <p:cNvPr id="6" name="TextBox 5"/>
          <p:cNvSpPr txBox="1"/>
          <p:nvPr/>
        </p:nvSpPr>
        <p:spPr>
          <a:xfrm>
            <a:off x="7880449" y="2272903"/>
            <a:ext cx="3759101" cy="1028700"/>
          </a:xfrm>
          <a:prstGeom prst="rect">
            <a:avLst/>
          </a:prstGeom>
          <a:noFill/>
        </p:spPr>
        <p:txBody>
          <a:bodyPr wrap="square" lIns="0" rIns="0" tIns="0" bIns="0" anchor="t">
            <a:noAutofit/>
          </a:bodyPr>
          <a:lstStyle/>
          <a:p>
            <a:pPr algn="r">
              <a:lnSpc>
                <a:spcPts val="3750"/>
              </a:lnSpc>
            </a:pPr>
            <a:r>
              <a:rPr sz="3750" b="0" i="0">
                <a:solidFill>
                  <a:srgbClr val="F5F1E8"/>
                </a:solidFill>
                <a:latin typeface="Cormorant Garamond"/>
                <a:latin typeface="Cormorant Garamond"/>
                <a:ea typeface="Cormorant Garamond"/>
                <a:cs typeface="Cormorant Garamond"/>
              </a:rPr>
              <a:t>Огаста, второе</a:t>
            </a:r>
          </a:p>
          <a:p>
            <a:pPr algn="r">
              <a:lnSpc>
                <a:spcPts val="3750"/>
              </a:lnSpc>
            </a:pPr>
            <a:r>
              <a:rPr sz="3750" b="0" i="0">
                <a:solidFill>
                  <a:srgbClr val="F5F1E8"/>
                </a:solidFill>
                <a:latin typeface="Cormorant Garamond"/>
                <a:latin typeface="Cormorant Garamond"/>
                <a:ea typeface="Cormorant Garamond"/>
                <a:cs typeface="Cormorant Garamond"/>
              </a:rPr>
              <a:t>воскресенье апреля</a:t>
            </a:r>
          </a:p>
        </p:txBody>
      </p:sp>
      <p:sp>
        <p:nvSpPr>
          <p:cNvPr id="7" name="TextBox 6"/>
          <p:cNvSpPr txBox="1"/>
          <p:nvPr/>
        </p:nvSpPr>
        <p:spPr>
          <a:xfrm>
            <a:off x="7346454" y="3730228"/>
            <a:ext cx="4293096" cy="1207294"/>
          </a:xfrm>
          <a:prstGeom prst="rect">
            <a:avLst/>
          </a:prstGeom>
          <a:noFill/>
        </p:spPr>
        <p:txBody>
          <a:bodyPr wrap="square" lIns="0" rIns="0" tIns="0" bIns="0" anchor="t">
            <a:noAutofit/>
          </a:bodyPr>
          <a:lstStyle/>
          <a:p>
            <a:pPr algn="r">
              <a:lnSpc>
                <a:spcPts val="2227"/>
              </a:lnSpc>
            </a:pPr>
            <a:r>
              <a:rPr sz="1350" b="0" i="0">
                <a:solidFill>
                  <a:srgbClr val="C9C3B7"/>
                </a:solidFill>
                <a:latin typeface="Inter"/>
                <a:latin typeface="Inter"/>
                <a:ea typeface="Inter"/>
                <a:cs typeface="Inter"/>
              </a:rPr>
              <a:t>Флаг с лунки Огасты — единственный предмет Мастерса, который турнир выпускает официально. Подписи собираются годами: чемпионы приезжают на ужин победителей каждую весну.</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m014.jpg"/>
          <p:cNvPicPr>
            <a:picLocks noChangeAspect="1"/>
          </p:cNvPicPr>
          <p:nvPr/>
        </p:nvPicPr>
        <p:blipFill>
          <a:blip r:embed="rId2"/>
          <a:srcRect/>
          <a:stretch>
            <a:fillRect/>
          </a:stretch>
        </p:blipFill>
        <p:spPr>
          <a:xfrm>
            <a:off x="0" y="0"/>
            <a:ext cx="6096000" cy="6858000"/>
          </a:xfrm>
          <a:prstGeom prst="rect">
            <a:avLst/>
          </a:prstGeom>
        </p:spPr>
      </p:pic>
      <p:sp>
        <p:nvSpPr>
          <p:cNvPr id="4" name="TextBox 3"/>
          <p:cNvSpPr txBox="1"/>
          <p:nvPr/>
        </p:nvSpPr>
        <p:spPr>
          <a:xfrm>
            <a:off x="6305550" y="2049066"/>
            <a:ext cx="1555552" cy="209550"/>
          </a:xfrm>
          <a:prstGeom prst="rect">
            <a:avLst/>
          </a:prstGeom>
          <a:noFill/>
        </p:spPr>
        <p:txBody>
          <a:bodyPr wrap="square" lIns="0" rIns="0" tIns="0" bIns="0" anchor="t">
            <a:noAutofit/>
          </a:bodyPr>
          <a:lstStyle/>
          <a:p>
            <a:pPr algn="l">
              <a:lnSpc>
                <a:spcPts val="825"/>
              </a:lnSpc>
            </a:pPr>
            <a:r>
              <a:rPr sz="819" b="0" i="0" spc="297">
                <a:solidFill>
                  <a:srgbClr val="A98545"/>
                </a:solidFill>
                <a:latin typeface="Inter"/>
                <a:latin typeface="Inter"/>
                <a:ea typeface="Inter"/>
                <a:cs typeface="Inter"/>
              </a:rPr>
              <a:t>ФЛАГИ · 2 ИЗ 6</a:t>
            </a:r>
          </a:p>
        </p:txBody>
      </p:sp>
      <p:sp>
        <p:nvSpPr>
          <p:cNvPr id="5" name="TextBox 4"/>
          <p:cNvSpPr txBox="1"/>
          <p:nvPr/>
        </p:nvSpPr>
        <p:spPr>
          <a:xfrm>
            <a:off x="6324600" y="2306241"/>
            <a:ext cx="5372100" cy="689372"/>
          </a:xfrm>
          <a:prstGeom prst="rect">
            <a:avLst/>
          </a:prstGeom>
          <a:noFill/>
        </p:spPr>
        <p:txBody>
          <a:bodyPr wrap="square" lIns="0" rIns="0" tIns="0" bIns="0" anchor="t">
            <a:noAutofit/>
          </a:bodyPr>
          <a:lstStyle/>
          <a:p>
            <a:pPr algn="l">
              <a:lnSpc>
                <a:spcPts val="2415"/>
              </a:lnSpc>
            </a:pPr>
            <a:r>
              <a:rPr sz="2100" b="0" i="0">
                <a:solidFill>
                  <a:srgbClr val="1A1A1A"/>
                </a:solidFill>
                <a:latin typeface="Cormorant Garamond"/>
                <a:latin typeface="Cormorant Garamond"/>
                <a:ea typeface="Cormorant Garamond"/>
                <a:cs typeface="Cormorant Garamond"/>
              </a:rPr>
              <a:t>Флаг Мастерса 2022 года с автографами пятнадцати чемпионов турнира</a:t>
            </a:r>
          </a:p>
        </p:txBody>
      </p:sp>
      <p:sp>
        <p:nvSpPr>
          <p:cNvPr id="6" name="TextBox 5"/>
          <p:cNvSpPr txBox="1"/>
          <p:nvPr/>
        </p:nvSpPr>
        <p:spPr>
          <a:xfrm>
            <a:off x="6324600" y="3052762"/>
            <a:ext cx="5372100" cy="1013222"/>
          </a:xfrm>
          <a:prstGeom prst="rect">
            <a:avLst/>
          </a:prstGeom>
          <a:noFill/>
        </p:spPr>
        <p:txBody>
          <a:bodyPr wrap="square" lIns="0" rIns="0" tIns="0" bIns="0" anchor="t">
            <a:noAutofit/>
          </a:bodyPr>
          <a:lstStyle/>
          <a:p>
            <a:pPr algn="l">
              <a:lnSpc>
                <a:spcPts val="1845"/>
              </a:lnSpc>
            </a:pPr>
            <a:r>
              <a:rPr sz="1120" b="0" i="0">
                <a:solidFill>
                  <a:srgbClr val="4A4A4A"/>
                </a:solidFill>
                <a:latin typeface="Inter"/>
                <a:latin typeface="Inter"/>
                <a:ea typeface="Inter"/>
                <a:cs typeface="Inter"/>
              </a:rPr>
              <a:t>Пятнадцать чемпионов Мастерса на одном полотне — среди них Джек Никлаус, шестикратный победитель турнира, и Фил Микельсон. Собрать столько подписей можно только на ужине победителей: посторонних там не бывает.</a:t>
            </a:r>
          </a:p>
        </p:txBody>
      </p:sp>
      <p:sp>
        <p:nvSpPr>
          <p:cNvPr id="7" name="TextBox 6"/>
          <p:cNvSpPr txBox="1"/>
          <p:nvPr/>
        </p:nvSpPr>
        <p:spPr>
          <a:xfrm>
            <a:off x="6305550" y="4161234"/>
            <a:ext cx="1309092" cy="428625"/>
          </a:xfrm>
          <a:prstGeom prst="rect">
            <a:avLst/>
          </a:prstGeom>
          <a:noFill/>
        </p:spPr>
        <p:txBody>
          <a:bodyPr wrap="square" lIns="0" rIns="0" tIns="0" bIns="0" anchor="t">
            <a:noAutofit/>
          </a:bodyPr>
          <a:lstStyle/>
          <a:p>
            <a:pPr algn="l">
              <a:lnSpc>
                <a:spcPts val="2700"/>
              </a:lnSpc>
            </a:pPr>
            <a:r>
              <a:rPr sz="2250" b="0" i="0">
                <a:solidFill>
                  <a:srgbClr val="A98545"/>
                </a:solidFill>
                <a:latin typeface="Cormorant Garamond"/>
                <a:latin typeface="Cormorant Garamond"/>
                <a:ea typeface="Cormorant Garamond"/>
                <a:cs typeface="Cormorant Garamond"/>
              </a:rPr>
              <a:t>900 000 ₽</a:t>
            </a:r>
          </a:p>
        </p:txBody>
      </p:sp>
      <p:sp>
        <p:nvSpPr>
          <p:cNvPr id="8" name="TextBox 7"/>
          <p:cNvSpPr txBox="1"/>
          <p:nvPr/>
        </p:nvSpPr>
        <p:spPr>
          <a:xfrm>
            <a:off x="6305550" y="4618434"/>
            <a:ext cx="2657921" cy="190500"/>
          </a:xfrm>
          <a:prstGeom prst="rect">
            <a:avLst/>
          </a:prstGeom>
          <a:noFill/>
        </p:spPr>
        <p:txBody>
          <a:bodyPr wrap="square" lIns="0" rIns="0" tIns="0" bIns="0" anchor="t">
            <a:noAutofit/>
          </a:bodyPr>
          <a:lstStyle/>
          <a:p>
            <a:pPr algn="l">
              <a:lnSpc>
                <a:spcPts val="1125"/>
              </a:lnSpc>
            </a:pPr>
            <a:r>
              <a:rPr sz="750" b="0" i="0" spc="135">
                <a:solidFill>
                  <a:srgbClr val="9A958C"/>
                </a:solidFill>
                <a:latin typeface="Inter"/>
                <a:latin typeface="Inter"/>
                <a:ea typeface="Inter"/>
                <a:cs typeface="Inter"/>
              </a:rPr>
              <a:t>ФЛАГ ЛУНКИ · 51×38 СМ · СЕЗОН 2022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m015.jpg"/>
          <p:cNvPicPr>
            <a:picLocks noChangeAspect="1"/>
          </p:cNvPicPr>
          <p:nvPr/>
        </p:nvPicPr>
        <p:blipFill>
          <a:blip r:embed="rId2"/>
          <a:srcRect/>
          <a:stretch>
            <a:fillRect/>
          </a:stretch>
        </p:blipFill>
        <p:spPr>
          <a:xfrm>
            <a:off x="0" y="0"/>
            <a:ext cx="6096000" cy="6858000"/>
          </a:xfrm>
          <a:prstGeom prst="rect">
            <a:avLst/>
          </a:prstGeom>
        </p:spPr>
      </p:pic>
      <p:sp>
        <p:nvSpPr>
          <p:cNvPr id="4" name="TextBox 3"/>
          <p:cNvSpPr txBox="1"/>
          <p:nvPr/>
        </p:nvSpPr>
        <p:spPr>
          <a:xfrm>
            <a:off x="6305550" y="2166193"/>
            <a:ext cx="1555552" cy="209550"/>
          </a:xfrm>
          <a:prstGeom prst="rect">
            <a:avLst/>
          </a:prstGeom>
          <a:noFill/>
        </p:spPr>
        <p:txBody>
          <a:bodyPr wrap="square" lIns="0" rIns="0" tIns="0" bIns="0" anchor="t">
            <a:noAutofit/>
          </a:bodyPr>
          <a:lstStyle/>
          <a:p>
            <a:pPr algn="l">
              <a:lnSpc>
                <a:spcPts val="825"/>
              </a:lnSpc>
            </a:pPr>
            <a:r>
              <a:rPr sz="819" b="0" i="0" spc="297">
                <a:solidFill>
                  <a:srgbClr val="A98545"/>
                </a:solidFill>
                <a:latin typeface="Inter"/>
                <a:latin typeface="Inter"/>
                <a:ea typeface="Inter"/>
                <a:cs typeface="Inter"/>
              </a:rPr>
              <a:t>ФЛАГИ · 2 ИЗ 6</a:t>
            </a:r>
          </a:p>
        </p:txBody>
      </p:sp>
      <p:sp>
        <p:nvSpPr>
          <p:cNvPr id="5" name="TextBox 4"/>
          <p:cNvSpPr txBox="1"/>
          <p:nvPr/>
        </p:nvSpPr>
        <p:spPr>
          <a:xfrm>
            <a:off x="6324600" y="2423368"/>
            <a:ext cx="5372100" cy="689372"/>
          </a:xfrm>
          <a:prstGeom prst="rect">
            <a:avLst/>
          </a:prstGeom>
          <a:noFill/>
        </p:spPr>
        <p:txBody>
          <a:bodyPr wrap="square" lIns="0" rIns="0" tIns="0" bIns="0" anchor="t">
            <a:noAutofit/>
          </a:bodyPr>
          <a:lstStyle/>
          <a:p>
            <a:pPr algn="l">
              <a:lnSpc>
                <a:spcPts val="2415"/>
              </a:lnSpc>
            </a:pPr>
            <a:r>
              <a:rPr sz="2100" b="0" i="0">
                <a:solidFill>
                  <a:srgbClr val="1A1A1A"/>
                </a:solidFill>
                <a:latin typeface="Cormorant Garamond"/>
                <a:latin typeface="Cormorant Garamond"/>
                <a:ea typeface="Cormorant Garamond"/>
                <a:cs typeface="Cormorant Garamond"/>
              </a:rPr>
              <a:t>Флаг Мастерса 2022 года с автографами пятнадцати чемпионов турнира</a:t>
            </a:r>
          </a:p>
        </p:txBody>
      </p:sp>
      <p:sp>
        <p:nvSpPr>
          <p:cNvPr id="6" name="TextBox 5"/>
          <p:cNvSpPr txBox="1"/>
          <p:nvPr/>
        </p:nvSpPr>
        <p:spPr>
          <a:xfrm>
            <a:off x="6324600" y="3169890"/>
            <a:ext cx="5372100" cy="778966"/>
          </a:xfrm>
          <a:prstGeom prst="rect">
            <a:avLst/>
          </a:prstGeom>
          <a:noFill/>
        </p:spPr>
        <p:txBody>
          <a:bodyPr wrap="square" lIns="0" rIns="0" tIns="0" bIns="0" anchor="t">
            <a:noAutofit/>
          </a:bodyPr>
          <a:lstStyle/>
          <a:p>
            <a:pPr algn="l">
              <a:lnSpc>
                <a:spcPts val="1845"/>
              </a:lnSpc>
            </a:pPr>
            <a:r>
              <a:rPr sz="1120" b="0" i="0">
                <a:solidFill>
                  <a:srgbClr val="4A4A4A"/>
                </a:solidFill>
                <a:latin typeface="Inter"/>
                <a:latin typeface="Inter"/>
                <a:ea typeface="Inter"/>
                <a:cs typeface="Inter"/>
              </a:rPr>
              <a:t>Оформление дома: тёмная рама, зелёное замшевое паспарту цвета пиджака победителя, тонкая золотая линия и латунная табличка. Жёлтый флаг на зелёном — сочетание, которое узнают без единой подписи.</a:t>
            </a:r>
          </a:p>
        </p:txBody>
      </p:sp>
      <p:sp>
        <p:nvSpPr>
          <p:cNvPr id="7" name="TextBox 6"/>
          <p:cNvSpPr txBox="1"/>
          <p:nvPr/>
        </p:nvSpPr>
        <p:spPr>
          <a:xfrm>
            <a:off x="6305550" y="4044107"/>
            <a:ext cx="1309092" cy="428625"/>
          </a:xfrm>
          <a:prstGeom prst="rect">
            <a:avLst/>
          </a:prstGeom>
          <a:noFill/>
        </p:spPr>
        <p:txBody>
          <a:bodyPr wrap="square" lIns="0" rIns="0" tIns="0" bIns="0" anchor="t">
            <a:noAutofit/>
          </a:bodyPr>
          <a:lstStyle/>
          <a:p>
            <a:pPr algn="l">
              <a:lnSpc>
                <a:spcPts val="2700"/>
              </a:lnSpc>
            </a:pPr>
            <a:r>
              <a:rPr sz="2250" b="0" i="0">
                <a:solidFill>
                  <a:srgbClr val="A98545"/>
                </a:solidFill>
                <a:latin typeface="Cormorant Garamond"/>
                <a:latin typeface="Cormorant Garamond"/>
                <a:ea typeface="Cormorant Garamond"/>
                <a:cs typeface="Cormorant Garamond"/>
              </a:rPr>
              <a:t>900 000 ₽</a:t>
            </a:r>
          </a:p>
        </p:txBody>
      </p:sp>
      <p:sp>
        <p:nvSpPr>
          <p:cNvPr id="8" name="TextBox 7"/>
          <p:cNvSpPr txBox="1"/>
          <p:nvPr/>
        </p:nvSpPr>
        <p:spPr>
          <a:xfrm>
            <a:off x="6305550" y="4501307"/>
            <a:ext cx="3416201" cy="190500"/>
          </a:xfrm>
          <a:prstGeom prst="rect">
            <a:avLst/>
          </a:prstGeom>
          <a:noFill/>
        </p:spPr>
        <p:txBody>
          <a:bodyPr wrap="square" lIns="0" rIns="0" tIns="0" bIns="0" anchor="t">
            <a:noAutofit/>
          </a:bodyPr>
          <a:lstStyle/>
          <a:p>
            <a:pPr algn="l">
              <a:lnSpc>
                <a:spcPts val="1125"/>
              </a:lnSpc>
            </a:pPr>
            <a:r>
              <a:rPr sz="750" b="0" i="0" spc="135">
                <a:solidFill>
                  <a:srgbClr val="9A958C"/>
                </a:solidFill>
                <a:latin typeface="Inter"/>
                <a:latin typeface="Inter"/>
                <a:ea typeface="Inter"/>
                <a:cs typeface="Inter"/>
              </a:rPr>
              <a:t>ОФОРМЛЕНИЕ · РАМА 70×55 СМ · ЗЕЛЁНАЯ ЗАМША</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m016.jpg"/>
          <p:cNvPicPr>
            <a:picLocks noChangeAspect="1"/>
          </p:cNvPicPr>
          <p:nvPr/>
        </p:nvPicPr>
        <p:blipFill>
          <a:blip r:embed="rId2"/>
          <a:srcRect/>
          <a:stretch>
            <a:fillRect/>
          </a:stretch>
        </p:blipFill>
        <p:spPr>
          <a:xfrm>
            <a:off x="0" y="0"/>
            <a:ext cx="6096000" cy="6858000"/>
          </a:xfrm>
          <a:prstGeom prst="rect">
            <a:avLst/>
          </a:prstGeom>
        </p:spPr>
      </p:pic>
      <p:sp>
        <p:nvSpPr>
          <p:cNvPr id="4" name="TextBox 3"/>
          <p:cNvSpPr txBox="1"/>
          <p:nvPr/>
        </p:nvSpPr>
        <p:spPr>
          <a:xfrm>
            <a:off x="6305550" y="2049066"/>
            <a:ext cx="1556593" cy="209550"/>
          </a:xfrm>
          <a:prstGeom prst="rect">
            <a:avLst/>
          </a:prstGeom>
          <a:noFill/>
        </p:spPr>
        <p:txBody>
          <a:bodyPr wrap="square" lIns="0" rIns="0" tIns="0" bIns="0" anchor="t">
            <a:noAutofit/>
          </a:bodyPr>
          <a:lstStyle/>
          <a:p>
            <a:pPr algn="l">
              <a:lnSpc>
                <a:spcPts val="825"/>
              </a:lnSpc>
            </a:pPr>
            <a:r>
              <a:rPr sz="819" b="0" i="0" spc="297">
                <a:solidFill>
                  <a:srgbClr val="A98545"/>
                </a:solidFill>
                <a:latin typeface="Inter"/>
                <a:latin typeface="Inter"/>
                <a:ea typeface="Inter"/>
                <a:cs typeface="Inter"/>
              </a:rPr>
              <a:t>ФЛАГИ · 3 ИЗ 6</a:t>
            </a:r>
          </a:p>
        </p:txBody>
      </p:sp>
      <p:sp>
        <p:nvSpPr>
          <p:cNvPr id="5" name="TextBox 4"/>
          <p:cNvSpPr txBox="1"/>
          <p:nvPr/>
        </p:nvSpPr>
        <p:spPr>
          <a:xfrm>
            <a:off x="6324600" y="2306241"/>
            <a:ext cx="5372100" cy="689372"/>
          </a:xfrm>
          <a:prstGeom prst="rect">
            <a:avLst/>
          </a:prstGeom>
          <a:noFill/>
        </p:spPr>
        <p:txBody>
          <a:bodyPr wrap="square" lIns="0" rIns="0" tIns="0" bIns="0" anchor="t">
            <a:noAutofit/>
          </a:bodyPr>
          <a:lstStyle/>
          <a:p>
            <a:pPr algn="l">
              <a:lnSpc>
                <a:spcPts val="2415"/>
              </a:lnSpc>
            </a:pPr>
            <a:r>
              <a:rPr sz="2100" b="0" i="0">
                <a:solidFill>
                  <a:srgbClr val="1A1A1A"/>
                </a:solidFill>
                <a:latin typeface="Cormorant Garamond"/>
                <a:latin typeface="Cormorant Garamond"/>
                <a:ea typeface="Cormorant Garamond"/>
                <a:cs typeface="Cormorant Garamond"/>
              </a:rPr>
              <a:t>Флаг Мастерса 2016 года с автографами тринадцати чемпионов турнира</a:t>
            </a:r>
          </a:p>
        </p:txBody>
      </p:sp>
      <p:sp>
        <p:nvSpPr>
          <p:cNvPr id="6" name="TextBox 5"/>
          <p:cNvSpPr txBox="1"/>
          <p:nvPr/>
        </p:nvSpPr>
        <p:spPr>
          <a:xfrm>
            <a:off x="6324600" y="3052762"/>
            <a:ext cx="5372100" cy="1013222"/>
          </a:xfrm>
          <a:prstGeom prst="rect">
            <a:avLst/>
          </a:prstGeom>
          <a:noFill/>
        </p:spPr>
        <p:txBody>
          <a:bodyPr wrap="square" lIns="0" rIns="0" tIns="0" bIns="0" anchor="t">
            <a:noAutofit/>
          </a:bodyPr>
          <a:lstStyle/>
          <a:p>
            <a:pPr algn="l">
              <a:lnSpc>
                <a:spcPts val="1845"/>
              </a:lnSpc>
            </a:pPr>
            <a:r>
              <a:rPr sz="1120" b="0" i="0">
                <a:solidFill>
                  <a:srgbClr val="4A4A4A"/>
                </a:solidFill>
                <a:latin typeface="Inter"/>
                <a:latin typeface="Inter"/>
                <a:ea typeface="Inter"/>
                <a:cs typeface="Inter"/>
              </a:rPr>
              <a:t>Тринадцать чемпионов, сезон 2016 года. Тот же ужин победителей, другой год и другой состав подписей — среди них Джек Никлаус и Том Уотсон, двукратный чемпион Мастерса и пятикратный победитель Открытого чемпионата Британии.</a:t>
            </a:r>
          </a:p>
        </p:txBody>
      </p:sp>
      <p:sp>
        <p:nvSpPr>
          <p:cNvPr id="7" name="TextBox 6"/>
          <p:cNvSpPr txBox="1"/>
          <p:nvPr/>
        </p:nvSpPr>
        <p:spPr>
          <a:xfrm>
            <a:off x="6305550" y="4161234"/>
            <a:ext cx="1309092" cy="428625"/>
          </a:xfrm>
          <a:prstGeom prst="rect">
            <a:avLst/>
          </a:prstGeom>
          <a:noFill/>
        </p:spPr>
        <p:txBody>
          <a:bodyPr wrap="square" lIns="0" rIns="0" tIns="0" bIns="0" anchor="t">
            <a:noAutofit/>
          </a:bodyPr>
          <a:lstStyle/>
          <a:p>
            <a:pPr algn="l">
              <a:lnSpc>
                <a:spcPts val="2700"/>
              </a:lnSpc>
            </a:pPr>
            <a:r>
              <a:rPr sz="2250" b="0" i="0">
                <a:solidFill>
                  <a:srgbClr val="A98545"/>
                </a:solidFill>
                <a:latin typeface="Cormorant Garamond"/>
                <a:latin typeface="Cormorant Garamond"/>
                <a:ea typeface="Cormorant Garamond"/>
                <a:cs typeface="Cormorant Garamond"/>
              </a:rPr>
              <a:t>900 000 ₽</a:t>
            </a:r>
          </a:p>
        </p:txBody>
      </p:sp>
      <p:sp>
        <p:nvSpPr>
          <p:cNvPr id="8" name="TextBox 7"/>
          <p:cNvSpPr txBox="1"/>
          <p:nvPr/>
        </p:nvSpPr>
        <p:spPr>
          <a:xfrm>
            <a:off x="6305550" y="4618434"/>
            <a:ext cx="2639467" cy="190500"/>
          </a:xfrm>
          <a:prstGeom prst="rect">
            <a:avLst/>
          </a:prstGeom>
          <a:noFill/>
        </p:spPr>
        <p:txBody>
          <a:bodyPr wrap="square" lIns="0" rIns="0" tIns="0" bIns="0" anchor="t">
            <a:noAutofit/>
          </a:bodyPr>
          <a:lstStyle/>
          <a:p>
            <a:pPr algn="l">
              <a:lnSpc>
                <a:spcPts val="1125"/>
              </a:lnSpc>
            </a:pPr>
            <a:r>
              <a:rPr sz="750" b="0" i="0" spc="135">
                <a:solidFill>
                  <a:srgbClr val="9A958C"/>
                </a:solidFill>
                <a:latin typeface="Inter"/>
                <a:latin typeface="Inter"/>
                <a:ea typeface="Inter"/>
                <a:cs typeface="Inter"/>
              </a:rPr>
              <a:t>ФЛАГ ЛУНКИ · 51×38 СМ · СЕЗОН 2016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m017.jpg"/>
          <p:cNvPicPr>
            <a:picLocks noChangeAspect="1"/>
          </p:cNvPicPr>
          <p:nvPr/>
        </p:nvPicPr>
        <p:blipFill>
          <a:blip r:embed="rId2"/>
          <a:srcRect/>
          <a:stretch>
            <a:fillRect/>
          </a:stretch>
        </p:blipFill>
        <p:spPr>
          <a:xfrm>
            <a:off x="0" y="0"/>
            <a:ext cx="6096000" cy="6858000"/>
          </a:xfrm>
          <a:prstGeom prst="rect">
            <a:avLst/>
          </a:prstGeom>
        </p:spPr>
      </p:pic>
      <p:sp>
        <p:nvSpPr>
          <p:cNvPr id="4" name="TextBox 3"/>
          <p:cNvSpPr txBox="1"/>
          <p:nvPr/>
        </p:nvSpPr>
        <p:spPr>
          <a:xfrm>
            <a:off x="6305550" y="2049066"/>
            <a:ext cx="1559719" cy="209550"/>
          </a:xfrm>
          <a:prstGeom prst="rect">
            <a:avLst/>
          </a:prstGeom>
          <a:noFill/>
        </p:spPr>
        <p:txBody>
          <a:bodyPr wrap="square" lIns="0" rIns="0" tIns="0" bIns="0" anchor="t">
            <a:noAutofit/>
          </a:bodyPr>
          <a:lstStyle/>
          <a:p>
            <a:pPr algn="l">
              <a:lnSpc>
                <a:spcPts val="825"/>
              </a:lnSpc>
            </a:pPr>
            <a:r>
              <a:rPr sz="819" b="0" i="0" spc="297">
                <a:solidFill>
                  <a:srgbClr val="A98545"/>
                </a:solidFill>
                <a:latin typeface="Inter"/>
                <a:latin typeface="Inter"/>
                <a:ea typeface="Inter"/>
                <a:cs typeface="Inter"/>
              </a:rPr>
              <a:t>ФЛАГИ · 4 ИЗ 6</a:t>
            </a:r>
          </a:p>
        </p:txBody>
      </p:sp>
      <p:sp>
        <p:nvSpPr>
          <p:cNvPr id="5" name="TextBox 4"/>
          <p:cNvSpPr txBox="1"/>
          <p:nvPr/>
        </p:nvSpPr>
        <p:spPr>
          <a:xfrm>
            <a:off x="6324600" y="2306241"/>
            <a:ext cx="5372100" cy="689372"/>
          </a:xfrm>
          <a:prstGeom prst="rect">
            <a:avLst/>
          </a:prstGeom>
          <a:noFill/>
        </p:spPr>
        <p:txBody>
          <a:bodyPr wrap="square" lIns="0" rIns="0" tIns="0" bIns="0" anchor="t">
            <a:noAutofit/>
          </a:bodyPr>
          <a:lstStyle/>
          <a:p>
            <a:pPr algn="l">
              <a:lnSpc>
                <a:spcPts val="2415"/>
              </a:lnSpc>
            </a:pPr>
            <a:r>
              <a:rPr sz="2100" b="0" i="0">
                <a:solidFill>
                  <a:srgbClr val="1A1A1A"/>
                </a:solidFill>
                <a:latin typeface="Cormorant Garamond"/>
                <a:latin typeface="Cormorant Garamond"/>
                <a:ea typeface="Cormorant Garamond"/>
                <a:cs typeface="Cormorant Garamond"/>
              </a:rPr>
              <a:t>Флаг Мастерса 2016 года с автографами двенадцати чемпионов турнира</a:t>
            </a:r>
          </a:p>
        </p:txBody>
      </p:sp>
      <p:sp>
        <p:nvSpPr>
          <p:cNvPr id="6" name="TextBox 5"/>
          <p:cNvSpPr txBox="1"/>
          <p:nvPr/>
        </p:nvSpPr>
        <p:spPr>
          <a:xfrm>
            <a:off x="6324600" y="3052762"/>
            <a:ext cx="5372100" cy="1013222"/>
          </a:xfrm>
          <a:prstGeom prst="rect">
            <a:avLst/>
          </a:prstGeom>
          <a:noFill/>
        </p:spPr>
        <p:txBody>
          <a:bodyPr wrap="square" lIns="0" rIns="0" tIns="0" bIns="0" anchor="t">
            <a:noAutofit/>
          </a:bodyPr>
          <a:lstStyle/>
          <a:p>
            <a:pPr algn="l">
              <a:lnSpc>
                <a:spcPts val="1845"/>
              </a:lnSpc>
            </a:pPr>
            <a:r>
              <a:rPr sz="1120" b="0" i="0">
                <a:solidFill>
                  <a:srgbClr val="4A4A4A"/>
                </a:solidFill>
                <a:latin typeface="Inter"/>
                <a:latin typeface="Inter"/>
                <a:ea typeface="Inter"/>
                <a:cs typeface="Inter"/>
              </a:rPr>
              <a:t>Двенадцать чемпионов, тот же сезон 2016 года. Два флага одного года никогда не совпадают по составу: каждый собирался отдельно и в своём порядке. Пара из двух флагов 2016-го — редкий случай, когда можно показать это рядом.</a:t>
            </a:r>
          </a:p>
        </p:txBody>
      </p:sp>
      <p:sp>
        <p:nvSpPr>
          <p:cNvPr id="7" name="TextBox 6"/>
          <p:cNvSpPr txBox="1"/>
          <p:nvPr/>
        </p:nvSpPr>
        <p:spPr>
          <a:xfrm>
            <a:off x="6305550" y="4161234"/>
            <a:ext cx="1309092" cy="428625"/>
          </a:xfrm>
          <a:prstGeom prst="rect">
            <a:avLst/>
          </a:prstGeom>
          <a:noFill/>
        </p:spPr>
        <p:txBody>
          <a:bodyPr wrap="square" lIns="0" rIns="0" tIns="0" bIns="0" anchor="t">
            <a:noAutofit/>
          </a:bodyPr>
          <a:lstStyle/>
          <a:p>
            <a:pPr algn="l">
              <a:lnSpc>
                <a:spcPts val="2700"/>
              </a:lnSpc>
            </a:pPr>
            <a:r>
              <a:rPr sz="2250" b="0" i="0">
                <a:solidFill>
                  <a:srgbClr val="A98545"/>
                </a:solidFill>
                <a:latin typeface="Cormorant Garamond"/>
                <a:latin typeface="Cormorant Garamond"/>
                <a:ea typeface="Cormorant Garamond"/>
                <a:cs typeface="Cormorant Garamond"/>
              </a:rPr>
              <a:t>900 000 ₽</a:t>
            </a:r>
          </a:p>
        </p:txBody>
      </p:sp>
      <p:sp>
        <p:nvSpPr>
          <p:cNvPr id="8" name="TextBox 7"/>
          <p:cNvSpPr txBox="1"/>
          <p:nvPr/>
        </p:nvSpPr>
        <p:spPr>
          <a:xfrm>
            <a:off x="6305550" y="4618434"/>
            <a:ext cx="2639467" cy="190500"/>
          </a:xfrm>
          <a:prstGeom prst="rect">
            <a:avLst/>
          </a:prstGeom>
          <a:noFill/>
        </p:spPr>
        <p:txBody>
          <a:bodyPr wrap="square" lIns="0" rIns="0" tIns="0" bIns="0" anchor="t">
            <a:noAutofit/>
          </a:bodyPr>
          <a:lstStyle/>
          <a:p>
            <a:pPr algn="l">
              <a:lnSpc>
                <a:spcPts val="1125"/>
              </a:lnSpc>
            </a:pPr>
            <a:r>
              <a:rPr sz="750" b="0" i="0" spc="135">
                <a:solidFill>
                  <a:srgbClr val="9A958C"/>
                </a:solidFill>
                <a:latin typeface="Inter"/>
                <a:latin typeface="Inter"/>
                <a:ea typeface="Inter"/>
                <a:cs typeface="Inter"/>
              </a:rPr>
              <a:t>ФЛАГ ЛУНКИ · 51×38 СМ · СЕЗОН 2016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m018.jpg"/>
          <p:cNvPicPr>
            <a:picLocks noChangeAspect="1"/>
          </p:cNvPicPr>
          <p:nvPr/>
        </p:nvPicPr>
        <p:blipFill>
          <a:blip r:embed="rId2"/>
          <a:stretch>
            <a:fillRect/>
          </a:stretch>
        </p:blipFill>
        <p:spPr>
          <a:xfrm>
            <a:off x="590635" y="1368623"/>
            <a:ext cx="5324305" cy="3547318"/>
          </a:xfrm>
          <a:prstGeom prst="rect">
            <a:avLst/>
          </a:prstGeom>
        </p:spPr>
      </p:pic>
      <p:pic>
        <p:nvPicPr>
          <p:cNvPr id="4" name="Picture 3" descr="m019.jpg"/>
          <p:cNvPicPr>
            <a:picLocks noChangeAspect="1"/>
          </p:cNvPicPr>
          <p:nvPr/>
        </p:nvPicPr>
        <p:blipFill>
          <a:blip r:embed="rId3"/>
          <a:stretch>
            <a:fillRect/>
          </a:stretch>
        </p:blipFill>
        <p:spPr>
          <a:xfrm>
            <a:off x="6277074" y="1382018"/>
            <a:ext cx="5324277" cy="3520678"/>
          </a:xfrm>
          <a:prstGeom prst="rect">
            <a:avLst/>
          </a:prstGeom>
        </p:spPr>
      </p:pic>
      <p:sp>
        <p:nvSpPr>
          <p:cNvPr id="5" name="TextBox 4"/>
          <p:cNvSpPr txBox="1"/>
          <p:nvPr/>
        </p:nvSpPr>
        <p:spPr>
          <a:xfrm>
            <a:off x="533400" y="266700"/>
            <a:ext cx="3685877" cy="371475"/>
          </a:xfrm>
          <a:prstGeom prst="rect">
            <a:avLst/>
          </a:prstGeom>
          <a:noFill/>
        </p:spPr>
        <p:txBody>
          <a:bodyPr wrap="square" lIns="0" rIns="0" tIns="0" bIns="0" anchor="t">
            <a:noAutofit/>
          </a:bodyPr>
          <a:lstStyle/>
          <a:p>
            <a:pPr algn="l">
              <a:lnSpc>
                <a:spcPts val="2340"/>
              </a:lnSpc>
            </a:pPr>
            <a:r>
              <a:rPr sz="1950" b="0" i="0">
                <a:solidFill>
                  <a:srgbClr val="1A1A1A"/>
                </a:solidFill>
                <a:latin typeface="Cormorant Garamond"/>
                <a:latin typeface="Cormorant Garamond"/>
                <a:ea typeface="Cormorant Garamond"/>
                <a:cs typeface="Cormorant Garamond"/>
              </a:rPr>
              <a:t>Флаги Мастерса 2016 · два полотна</a:t>
            </a:r>
          </a:p>
        </p:txBody>
      </p:sp>
      <p:sp>
        <p:nvSpPr>
          <p:cNvPr id="6" name="TextBox 5"/>
          <p:cNvSpPr txBox="1"/>
          <p:nvPr/>
        </p:nvSpPr>
        <p:spPr>
          <a:xfrm>
            <a:off x="9899600" y="390525"/>
            <a:ext cx="1911400" cy="209550"/>
          </a:xfrm>
          <a:prstGeom prst="rect">
            <a:avLst/>
          </a:prstGeom>
          <a:noFill/>
        </p:spPr>
        <p:txBody>
          <a:bodyPr wrap="square" lIns="0" rIns="0" tIns="0" bIns="0" anchor="t">
            <a:noAutofit/>
          </a:bodyPr>
          <a:lstStyle/>
          <a:p>
            <a:pPr algn="l">
              <a:lnSpc>
                <a:spcPts val="825"/>
              </a:lnSpc>
            </a:pPr>
            <a:r>
              <a:rPr sz="819" b="0" i="0" spc="297">
                <a:solidFill>
                  <a:srgbClr val="A98545"/>
                </a:solidFill>
                <a:latin typeface="Inter"/>
                <a:latin typeface="Inter"/>
                <a:ea typeface="Inter"/>
                <a:cs typeface="Inter"/>
              </a:rPr>
              <a:t>ФЛАГИ · 3 И 4 ИЗ 6</a:t>
            </a:r>
          </a:p>
        </p:txBody>
      </p:sp>
      <p:sp>
        <p:nvSpPr>
          <p:cNvPr id="7" name="TextBox 6"/>
          <p:cNvSpPr txBox="1"/>
          <p:nvPr/>
        </p:nvSpPr>
        <p:spPr>
          <a:xfrm>
            <a:off x="2337346" y="5266432"/>
            <a:ext cx="1849785" cy="190500"/>
          </a:xfrm>
          <a:prstGeom prst="rect">
            <a:avLst/>
          </a:prstGeom>
          <a:noFill/>
        </p:spPr>
        <p:txBody>
          <a:bodyPr wrap="square" lIns="0" rIns="0" tIns="0" bIns="0" anchor="t">
            <a:noAutofit/>
          </a:bodyPr>
          <a:lstStyle/>
          <a:p>
            <a:pPr algn="ctr">
              <a:lnSpc>
                <a:spcPts val="1125"/>
              </a:lnSpc>
            </a:pPr>
            <a:r>
              <a:rPr sz="750" b="0" i="0" spc="120">
                <a:solidFill>
                  <a:srgbClr val="9A958C"/>
                </a:solidFill>
                <a:latin typeface="Inter"/>
                <a:latin typeface="Inter"/>
                <a:ea typeface="Inter"/>
                <a:cs typeface="Inter"/>
              </a:rPr>
              <a:t>ТРИНАДЦАТЬ ЧЕМПИОНОВ</a:t>
            </a:r>
          </a:p>
        </p:txBody>
      </p:sp>
      <p:sp>
        <p:nvSpPr>
          <p:cNvPr id="8" name="TextBox 7"/>
          <p:cNvSpPr txBox="1"/>
          <p:nvPr/>
        </p:nvSpPr>
        <p:spPr>
          <a:xfrm>
            <a:off x="8021985" y="5266432"/>
            <a:ext cx="1853357" cy="190500"/>
          </a:xfrm>
          <a:prstGeom prst="rect">
            <a:avLst/>
          </a:prstGeom>
          <a:noFill/>
        </p:spPr>
        <p:txBody>
          <a:bodyPr wrap="square" lIns="0" rIns="0" tIns="0" bIns="0" anchor="t">
            <a:noAutofit/>
          </a:bodyPr>
          <a:lstStyle/>
          <a:p>
            <a:pPr algn="ctr">
              <a:lnSpc>
                <a:spcPts val="1125"/>
              </a:lnSpc>
            </a:pPr>
            <a:r>
              <a:rPr sz="750" b="0" i="0" spc="120">
                <a:solidFill>
                  <a:srgbClr val="9A958C"/>
                </a:solidFill>
                <a:latin typeface="Inter"/>
                <a:latin typeface="Inter"/>
                <a:ea typeface="Inter"/>
                <a:cs typeface="Inter"/>
              </a:rPr>
              <a:t>ДВЕНАДЦАТЬ ЧЕМПИОНОВ</a:t>
            </a:r>
          </a:p>
        </p:txBody>
      </p:sp>
      <p:sp>
        <p:nvSpPr>
          <p:cNvPr id="9" name="TextBox 8"/>
          <p:cNvSpPr txBox="1"/>
          <p:nvPr/>
        </p:nvSpPr>
        <p:spPr>
          <a:xfrm>
            <a:off x="-19050" y="5741938"/>
            <a:ext cx="8623250" cy="1173212"/>
          </a:xfrm>
          <a:prstGeom prst="rect">
            <a:avLst/>
          </a:prstGeom>
          <a:noFill/>
        </p:spPr>
        <p:txBody>
          <a:bodyPr wrap="square" lIns="0" rIns="0" tIns="0" bIns="0" anchor="t">
            <a:noAutofit/>
          </a:bodyPr>
          <a:lstStyle/>
          <a:p>
            <a:pPr algn="l">
              <a:lnSpc>
                <a:spcPts val="1680"/>
              </a:lnSpc>
            </a:pPr>
            <a:r>
              <a:rPr sz="1050" b="0" i="0">
                <a:solidFill>
                  <a:srgbClr val="4A4A4A"/>
                </a:solidFill>
                <a:latin typeface="Inter"/>
                <a:latin typeface="Inter"/>
                <a:ea typeface="Inter"/>
                <a:cs typeface="Inter"/>
              </a:rPr>
              <a:t>Оба флага выпущены к одному турниру, но собирались независимо: разное число подписей, разные автографы, разный порядок. Рядом это видно сразу — и именно поэтому пара работает сильнее, чем два одинаковых предмета.</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m020.jpg"/>
          <p:cNvPicPr>
            <a:picLocks noChangeAspect="1"/>
          </p:cNvPicPr>
          <p:nvPr/>
        </p:nvPicPr>
        <p:blipFill>
          <a:blip r:embed="rId2"/>
          <a:srcRect/>
          <a:stretch>
            <a:fillRect/>
          </a:stretch>
        </p:blipFill>
        <p:spPr>
          <a:xfrm>
            <a:off x="0" y="0"/>
            <a:ext cx="6096000" cy="6858000"/>
          </a:xfrm>
          <a:prstGeom prst="rect">
            <a:avLst/>
          </a:prstGeom>
        </p:spPr>
      </p:pic>
      <p:sp>
        <p:nvSpPr>
          <p:cNvPr id="4" name="TextBox 3"/>
          <p:cNvSpPr txBox="1"/>
          <p:nvPr/>
        </p:nvSpPr>
        <p:spPr>
          <a:xfrm>
            <a:off x="6305550" y="1931938"/>
            <a:ext cx="1722537" cy="209550"/>
          </a:xfrm>
          <a:prstGeom prst="rect">
            <a:avLst/>
          </a:prstGeom>
          <a:noFill/>
        </p:spPr>
        <p:txBody>
          <a:bodyPr wrap="square" lIns="0" rIns="0" tIns="0" bIns="0" anchor="t">
            <a:noAutofit/>
          </a:bodyPr>
          <a:lstStyle/>
          <a:p>
            <a:pPr algn="l">
              <a:lnSpc>
                <a:spcPts val="825"/>
              </a:lnSpc>
            </a:pPr>
            <a:r>
              <a:rPr sz="819" b="0" i="0" spc="297">
                <a:solidFill>
                  <a:srgbClr val="A98545"/>
                </a:solidFill>
                <a:latin typeface="Inter"/>
                <a:latin typeface="Inter"/>
                <a:ea typeface="Inter"/>
                <a:cs typeface="Inter"/>
              </a:rPr>
              <a:t>КЛЮШКИ · 5 ИЗ 6</a:t>
            </a:r>
          </a:p>
        </p:txBody>
      </p:sp>
      <p:sp>
        <p:nvSpPr>
          <p:cNvPr id="5" name="TextBox 4"/>
          <p:cNvSpPr txBox="1"/>
          <p:nvPr/>
        </p:nvSpPr>
        <p:spPr>
          <a:xfrm>
            <a:off x="6324600" y="2189113"/>
            <a:ext cx="5372100" cy="689372"/>
          </a:xfrm>
          <a:prstGeom prst="rect">
            <a:avLst/>
          </a:prstGeom>
          <a:noFill/>
        </p:spPr>
        <p:txBody>
          <a:bodyPr wrap="square" lIns="0" rIns="0" tIns="0" bIns="0" anchor="t">
            <a:noAutofit/>
          </a:bodyPr>
          <a:lstStyle/>
          <a:p>
            <a:pPr algn="l">
              <a:lnSpc>
                <a:spcPts val="2415"/>
              </a:lnSpc>
            </a:pPr>
            <a:r>
              <a:rPr sz="2100" b="0" i="0">
                <a:solidFill>
                  <a:srgbClr val="1A1A1A"/>
                </a:solidFill>
                <a:latin typeface="Cormorant Garamond"/>
                <a:latin typeface="Cormorant Garamond"/>
                <a:ea typeface="Cormorant Garamond"/>
                <a:cs typeface="Cormorant Garamond"/>
              </a:rPr>
              <a:t>Генри Пикард — комплект персональных айронов и подписанная фотография</a:t>
            </a:r>
          </a:p>
        </p:txBody>
      </p:sp>
      <p:sp>
        <p:nvSpPr>
          <p:cNvPr id="6" name="TextBox 5"/>
          <p:cNvSpPr txBox="1"/>
          <p:nvPr/>
        </p:nvSpPr>
        <p:spPr>
          <a:xfrm>
            <a:off x="6324600" y="2935635"/>
            <a:ext cx="5372100" cy="1247477"/>
          </a:xfrm>
          <a:prstGeom prst="rect">
            <a:avLst/>
          </a:prstGeom>
          <a:noFill/>
        </p:spPr>
        <p:txBody>
          <a:bodyPr wrap="square" lIns="0" rIns="0" tIns="0" bIns="0" anchor="t">
            <a:noAutofit/>
          </a:bodyPr>
          <a:lstStyle/>
          <a:p>
            <a:pPr algn="l">
              <a:lnSpc>
                <a:spcPts val="1845"/>
              </a:lnSpc>
            </a:pPr>
            <a:r>
              <a:rPr sz="1120" b="0" i="0">
                <a:solidFill>
                  <a:srgbClr val="4A4A4A"/>
                </a:solidFill>
                <a:latin typeface="Inter"/>
                <a:latin typeface="Inter"/>
                <a:ea typeface="Inter"/>
                <a:cs typeface="Inter"/>
              </a:rPr>
              <a:t>Комплект персональных айронов Генри Пикарда — чемпиона Мастерса 1938 года и Чемпионата PGA 1939-го. Пикард известен не только титулами: именно он поставил свинг Бену Хогану и оплатил ему выход на тур, когда тот был на грани ухода из гольфа. Древки гикори, кованые головки, следы игры на подошвах. В кадре лота — портрет Пикарда и мяч с его росчерком.</a:t>
            </a:r>
          </a:p>
        </p:txBody>
      </p:sp>
      <p:sp>
        <p:nvSpPr>
          <p:cNvPr id="7" name="TextBox 6"/>
          <p:cNvSpPr txBox="1"/>
          <p:nvPr/>
        </p:nvSpPr>
        <p:spPr>
          <a:xfrm>
            <a:off x="6305550" y="4278362"/>
            <a:ext cx="1315938" cy="428625"/>
          </a:xfrm>
          <a:prstGeom prst="rect">
            <a:avLst/>
          </a:prstGeom>
          <a:noFill/>
        </p:spPr>
        <p:txBody>
          <a:bodyPr wrap="square" lIns="0" rIns="0" tIns="0" bIns="0" anchor="t">
            <a:noAutofit/>
          </a:bodyPr>
          <a:lstStyle/>
          <a:p>
            <a:pPr algn="l">
              <a:lnSpc>
                <a:spcPts val="2700"/>
              </a:lnSpc>
            </a:pPr>
            <a:r>
              <a:rPr sz="2250" b="0" i="0">
                <a:solidFill>
                  <a:srgbClr val="A98545"/>
                </a:solidFill>
                <a:latin typeface="Cormorant Garamond"/>
                <a:latin typeface="Cormorant Garamond"/>
                <a:ea typeface="Cormorant Garamond"/>
                <a:cs typeface="Cormorant Garamond"/>
              </a:rPr>
              <a:t>800 000 ₽</a:t>
            </a:r>
          </a:p>
        </p:txBody>
      </p:sp>
      <p:sp>
        <p:nvSpPr>
          <p:cNvPr id="8" name="TextBox 7"/>
          <p:cNvSpPr txBox="1"/>
          <p:nvPr/>
        </p:nvSpPr>
        <p:spPr>
          <a:xfrm>
            <a:off x="6305550" y="4735562"/>
            <a:ext cx="3387477" cy="190500"/>
          </a:xfrm>
          <a:prstGeom prst="rect">
            <a:avLst/>
          </a:prstGeom>
          <a:noFill/>
        </p:spPr>
        <p:txBody>
          <a:bodyPr wrap="square" lIns="0" rIns="0" tIns="0" bIns="0" anchor="t">
            <a:noAutofit/>
          </a:bodyPr>
          <a:lstStyle/>
          <a:p>
            <a:pPr algn="l">
              <a:lnSpc>
                <a:spcPts val="1125"/>
              </a:lnSpc>
            </a:pPr>
            <a:r>
              <a:rPr sz="750" b="0" i="0" spc="135">
                <a:solidFill>
                  <a:srgbClr val="9A958C"/>
                </a:solidFill>
                <a:latin typeface="Inter"/>
                <a:latin typeface="Inter"/>
                <a:ea typeface="Inter"/>
                <a:cs typeface="Inter"/>
              </a:rPr>
              <a:t>КОМПЛЕКТ АЙРОНОВ · ГИКОРИ И КОВАНАЯ СТАЛЬ</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m021.jpg"/>
          <p:cNvPicPr>
            <a:picLocks noChangeAspect="1"/>
          </p:cNvPicPr>
          <p:nvPr/>
        </p:nvPicPr>
        <p:blipFill>
          <a:blip r:embed="rId2"/>
          <a:stretch>
            <a:fillRect/>
          </a:stretch>
        </p:blipFill>
        <p:spPr>
          <a:xfrm>
            <a:off x="590550" y="1145679"/>
            <a:ext cx="5324475" cy="3993356"/>
          </a:xfrm>
          <a:prstGeom prst="rect">
            <a:avLst/>
          </a:prstGeom>
        </p:spPr>
      </p:pic>
      <p:pic>
        <p:nvPicPr>
          <p:cNvPr id="4" name="Picture 3" descr="m022.jpg"/>
          <p:cNvPicPr>
            <a:picLocks noChangeAspect="1"/>
          </p:cNvPicPr>
          <p:nvPr/>
        </p:nvPicPr>
        <p:blipFill>
          <a:blip r:embed="rId3"/>
          <a:stretch>
            <a:fillRect/>
          </a:stretch>
        </p:blipFill>
        <p:spPr>
          <a:xfrm>
            <a:off x="6276975" y="1145679"/>
            <a:ext cx="5324475" cy="3993356"/>
          </a:xfrm>
          <a:prstGeom prst="rect">
            <a:avLst/>
          </a:prstGeom>
        </p:spPr>
      </p:pic>
      <p:sp>
        <p:nvSpPr>
          <p:cNvPr id="5" name="TextBox 4"/>
          <p:cNvSpPr txBox="1"/>
          <p:nvPr/>
        </p:nvSpPr>
        <p:spPr>
          <a:xfrm>
            <a:off x="533400" y="266700"/>
            <a:ext cx="2735610" cy="371475"/>
          </a:xfrm>
          <a:prstGeom prst="rect">
            <a:avLst/>
          </a:prstGeom>
          <a:noFill/>
        </p:spPr>
        <p:txBody>
          <a:bodyPr wrap="square" lIns="0" rIns="0" tIns="0" bIns="0" anchor="t">
            <a:noAutofit/>
          </a:bodyPr>
          <a:lstStyle/>
          <a:p>
            <a:pPr algn="l">
              <a:lnSpc>
                <a:spcPts val="2340"/>
              </a:lnSpc>
            </a:pPr>
            <a:r>
              <a:rPr sz="1950" b="0" i="0">
                <a:solidFill>
                  <a:srgbClr val="1A1A1A"/>
                </a:solidFill>
                <a:latin typeface="Cormorant Garamond"/>
                <a:latin typeface="Cormorant Garamond"/>
                <a:ea typeface="Cormorant Garamond"/>
                <a:cs typeface="Cormorant Garamond"/>
              </a:rPr>
              <a:t>Генри Пикард · комплект</a:t>
            </a:r>
          </a:p>
        </p:txBody>
      </p:sp>
      <p:sp>
        <p:nvSpPr>
          <p:cNvPr id="6" name="TextBox 5"/>
          <p:cNvSpPr txBox="1"/>
          <p:nvPr/>
        </p:nvSpPr>
        <p:spPr>
          <a:xfrm>
            <a:off x="10088463" y="390525"/>
            <a:ext cx="1722537" cy="209550"/>
          </a:xfrm>
          <a:prstGeom prst="rect">
            <a:avLst/>
          </a:prstGeom>
          <a:noFill/>
        </p:spPr>
        <p:txBody>
          <a:bodyPr wrap="square" lIns="0" rIns="0" tIns="0" bIns="0" anchor="t">
            <a:noAutofit/>
          </a:bodyPr>
          <a:lstStyle/>
          <a:p>
            <a:pPr algn="l">
              <a:lnSpc>
                <a:spcPts val="825"/>
              </a:lnSpc>
            </a:pPr>
            <a:r>
              <a:rPr sz="819" b="0" i="0" spc="297">
                <a:solidFill>
                  <a:srgbClr val="A98545"/>
                </a:solidFill>
                <a:latin typeface="Inter"/>
                <a:latin typeface="Inter"/>
                <a:ea typeface="Inter"/>
                <a:cs typeface="Inter"/>
              </a:rPr>
              <a:t>КЛЮШКИ · 5 ИЗ 6</a:t>
            </a:r>
          </a:p>
        </p:txBody>
      </p:sp>
      <p:sp>
        <p:nvSpPr>
          <p:cNvPr id="7" name="TextBox 6"/>
          <p:cNvSpPr txBox="1"/>
          <p:nvPr/>
        </p:nvSpPr>
        <p:spPr>
          <a:xfrm>
            <a:off x="1939230" y="5266432"/>
            <a:ext cx="2646164" cy="190500"/>
          </a:xfrm>
          <a:prstGeom prst="rect">
            <a:avLst/>
          </a:prstGeom>
          <a:noFill/>
        </p:spPr>
        <p:txBody>
          <a:bodyPr wrap="square" lIns="0" rIns="0" tIns="0" bIns="0" anchor="t">
            <a:noAutofit/>
          </a:bodyPr>
          <a:lstStyle/>
          <a:p>
            <a:pPr algn="ctr">
              <a:lnSpc>
                <a:spcPts val="1125"/>
              </a:lnSpc>
            </a:pPr>
            <a:r>
              <a:rPr sz="750" b="0" i="0" spc="120">
                <a:solidFill>
                  <a:srgbClr val="9A958C"/>
                </a:solidFill>
                <a:latin typeface="Inter"/>
                <a:latin typeface="Inter"/>
                <a:ea typeface="Inter"/>
                <a:cs typeface="Inter"/>
              </a:rPr>
              <a:t>ПОДПИСАННАЯ ФОТОГРАФИЯ ПИКАРДА</a:t>
            </a:r>
          </a:p>
        </p:txBody>
      </p:sp>
      <p:sp>
        <p:nvSpPr>
          <p:cNvPr id="8" name="TextBox 7"/>
          <p:cNvSpPr txBox="1"/>
          <p:nvPr/>
        </p:nvSpPr>
        <p:spPr>
          <a:xfrm>
            <a:off x="8200876" y="5266432"/>
            <a:ext cx="1495574" cy="190500"/>
          </a:xfrm>
          <a:prstGeom prst="rect">
            <a:avLst/>
          </a:prstGeom>
          <a:noFill/>
        </p:spPr>
        <p:txBody>
          <a:bodyPr wrap="square" lIns="0" rIns="0" tIns="0" bIns="0" anchor="t">
            <a:noAutofit/>
          </a:bodyPr>
          <a:lstStyle/>
          <a:p>
            <a:pPr algn="ctr">
              <a:lnSpc>
                <a:spcPts val="1125"/>
              </a:lnSpc>
            </a:pPr>
            <a:r>
              <a:rPr sz="750" b="0" i="0" spc="120">
                <a:solidFill>
                  <a:srgbClr val="9A958C"/>
                </a:solidFill>
                <a:latin typeface="Inter"/>
                <a:latin typeface="Inter"/>
                <a:ea typeface="Inter"/>
                <a:cs typeface="Inter"/>
              </a:rPr>
              <a:t>ДРЕВКИ КОМПЛЕКТА</a:t>
            </a:r>
          </a:p>
        </p:txBody>
      </p:sp>
      <p:sp>
        <p:nvSpPr>
          <p:cNvPr id="9" name="TextBox 8"/>
          <p:cNvSpPr txBox="1"/>
          <p:nvPr/>
        </p:nvSpPr>
        <p:spPr>
          <a:xfrm>
            <a:off x="-19050" y="5741938"/>
            <a:ext cx="8623250" cy="1173212"/>
          </a:xfrm>
          <a:prstGeom prst="rect">
            <a:avLst/>
          </a:prstGeom>
          <a:noFill/>
        </p:spPr>
        <p:txBody>
          <a:bodyPr wrap="square" lIns="0" rIns="0" tIns="0" bIns="0" anchor="t">
            <a:noAutofit/>
          </a:bodyPr>
          <a:lstStyle/>
          <a:p>
            <a:pPr algn="l">
              <a:lnSpc>
                <a:spcPts val="1680"/>
              </a:lnSpc>
            </a:pPr>
            <a:r>
              <a:rPr sz="1050" b="0" i="0">
                <a:solidFill>
                  <a:srgbClr val="4A4A4A"/>
                </a:solidFill>
                <a:latin typeface="Inter"/>
                <a:latin typeface="Inter"/>
                <a:ea typeface="Inter"/>
                <a:cs typeface="Inter"/>
              </a:rPr>
              <a:t>К комплекту приложена подписанная фотография Пикарда — она и объясняет предмет: без портрета набор старых айронов остаётся набором старых айронов. Дом ставит их в один глубокий короб, фотографию — в отдельное окно рядом.</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m023.jpg"/>
          <p:cNvPicPr>
            <a:picLocks noChangeAspect="1"/>
          </p:cNvPicPr>
          <p:nvPr/>
        </p:nvPicPr>
        <p:blipFill>
          <a:blip r:embed="rId2"/>
          <a:srcRect/>
          <a:stretch>
            <a:fillRect/>
          </a:stretch>
        </p:blipFill>
        <p:spPr>
          <a:xfrm>
            <a:off x="0" y="0"/>
            <a:ext cx="6096000" cy="6858000"/>
          </a:xfrm>
          <a:prstGeom prst="rect">
            <a:avLst/>
          </a:prstGeom>
        </p:spPr>
      </p:pic>
      <p:sp>
        <p:nvSpPr>
          <p:cNvPr id="4" name="TextBox 3"/>
          <p:cNvSpPr txBox="1"/>
          <p:nvPr/>
        </p:nvSpPr>
        <p:spPr>
          <a:xfrm>
            <a:off x="6305550" y="2049066"/>
            <a:ext cx="1725364" cy="209550"/>
          </a:xfrm>
          <a:prstGeom prst="rect">
            <a:avLst/>
          </a:prstGeom>
          <a:noFill/>
        </p:spPr>
        <p:txBody>
          <a:bodyPr wrap="square" lIns="0" rIns="0" tIns="0" bIns="0" anchor="t">
            <a:noAutofit/>
          </a:bodyPr>
          <a:lstStyle/>
          <a:p>
            <a:pPr algn="l">
              <a:lnSpc>
                <a:spcPts val="825"/>
              </a:lnSpc>
            </a:pPr>
            <a:r>
              <a:rPr sz="819" b="0" i="0" spc="297">
                <a:solidFill>
                  <a:srgbClr val="A98545"/>
                </a:solidFill>
                <a:latin typeface="Inter"/>
                <a:latin typeface="Inter"/>
                <a:ea typeface="Inter"/>
                <a:cs typeface="Inter"/>
              </a:rPr>
              <a:t>КЛЮШКИ · 6 ИЗ 6</a:t>
            </a:r>
          </a:p>
        </p:txBody>
      </p:sp>
      <p:sp>
        <p:nvSpPr>
          <p:cNvPr id="5" name="TextBox 4"/>
          <p:cNvSpPr txBox="1"/>
          <p:nvPr/>
        </p:nvSpPr>
        <p:spPr>
          <a:xfrm>
            <a:off x="6324600" y="2306241"/>
            <a:ext cx="5372100" cy="689372"/>
          </a:xfrm>
          <a:prstGeom prst="rect">
            <a:avLst/>
          </a:prstGeom>
          <a:noFill/>
        </p:spPr>
        <p:txBody>
          <a:bodyPr wrap="square" lIns="0" rIns="0" tIns="0" bIns="0" anchor="t">
            <a:noAutofit/>
          </a:bodyPr>
          <a:lstStyle/>
          <a:p>
            <a:pPr algn="l">
              <a:lnSpc>
                <a:spcPts val="2415"/>
              </a:lnSpc>
            </a:pPr>
            <a:r>
              <a:rPr sz="2100" b="0" i="0">
                <a:solidFill>
                  <a:srgbClr val="1A1A1A"/>
                </a:solidFill>
                <a:latin typeface="Cormorant Garamond"/>
                <a:latin typeface="Cormorant Garamond"/>
                <a:ea typeface="Cormorant Garamond"/>
                <a:cs typeface="Cormorant Garamond"/>
              </a:rPr>
              <a:t>Арнольд Палмер — айрон The Standard forged 2 с автографом</a:t>
            </a:r>
          </a:p>
        </p:txBody>
      </p:sp>
      <p:sp>
        <p:nvSpPr>
          <p:cNvPr id="6" name="TextBox 5"/>
          <p:cNvSpPr txBox="1"/>
          <p:nvPr/>
        </p:nvSpPr>
        <p:spPr>
          <a:xfrm>
            <a:off x="6324600" y="3052762"/>
            <a:ext cx="5372100" cy="1013222"/>
          </a:xfrm>
          <a:prstGeom prst="rect">
            <a:avLst/>
          </a:prstGeom>
          <a:noFill/>
        </p:spPr>
        <p:txBody>
          <a:bodyPr wrap="square" lIns="0" rIns="0" tIns="0" bIns="0" anchor="t">
            <a:noAutofit/>
          </a:bodyPr>
          <a:lstStyle/>
          <a:p>
            <a:pPr algn="l">
              <a:lnSpc>
                <a:spcPts val="1845"/>
              </a:lnSpc>
            </a:pPr>
            <a:r>
              <a:rPr sz="1120" b="0" i="0">
                <a:solidFill>
                  <a:srgbClr val="4A4A4A"/>
                </a:solidFill>
                <a:latin typeface="Inter"/>
                <a:latin typeface="Inter"/>
                <a:ea typeface="Inter"/>
                <a:cs typeface="Inter"/>
              </a:rPr>
              <a:t>Айрон The Standard forged 2 с автографом Арнольда Палмера — человека, который сделал гольф телевизионным видом спорта. Подпись поставлена прямо по клюшке, поперёк бороздок: крупная, уверенная, ровно та, что знают по его автограф-сессиям.</a:t>
            </a:r>
          </a:p>
        </p:txBody>
      </p:sp>
      <p:sp>
        <p:nvSpPr>
          <p:cNvPr id="7" name="TextBox 6"/>
          <p:cNvSpPr txBox="1"/>
          <p:nvPr/>
        </p:nvSpPr>
        <p:spPr>
          <a:xfrm>
            <a:off x="6305550" y="4161234"/>
            <a:ext cx="1305669" cy="428625"/>
          </a:xfrm>
          <a:prstGeom prst="rect">
            <a:avLst/>
          </a:prstGeom>
          <a:noFill/>
        </p:spPr>
        <p:txBody>
          <a:bodyPr wrap="square" lIns="0" rIns="0" tIns="0" bIns="0" anchor="t">
            <a:noAutofit/>
          </a:bodyPr>
          <a:lstStyle/>
          <a:p>
            <a:pPr algn="l">
              <a:lnSpc>
                <a:spcPts val="2700"/>
              </a:lnSpc>
            </a:pPr>
            <a:r>
              <a:rPr sz="2250" b="0" i="0">
                <a:solidFill>
                  <a:srgbClr val="A98545"/>
                </a:solidFill>
                <a:latin typeface="Cormorant Garamond"/>
                <a:latin typeface="Cormorant Garamond"/>
                <a:ea typeface="Cormorant Garamond"/>
                <a:cs typeface="Cormorant Garamond"/>
              </a:rPr>
              <a:t>400 000 ₽</a:t>
            </a:r>
          </a:p>
        </p:txBody>
      </p:sp>
      <p:sp>
        <p:nvSpPr>
          <p:cNvPr id="8" name="TextBox 7"/>
          <p:cNvSpPr txBox="1"/>
          <p:nvPr/>
        </p:nvSpPr>
        <p:spPr>
          <a:xfrm>
            <a:off x="6305550" y="4618434"/>
            <a:ext cx="3328392" cy="190500"/>
          </a:xfrm>
          <a:prstGeom prst="rect">
            <a:avLst/>
          </a:prstGeom>
          <a:noFill/>
        </p:spPr>
        <p:txBody>
          <a:bodyPr wrap="square" lIns="0" rIns="0" tIns="0" bIns="0" anchor="t">
            <a:noAutofit/>
          </a:bodyPr>
          <a:lstStyle/>
          <a:p>
            <a:pPr algn="l">
              <a:lnSpc>
                <a:spcPts val="1125"/>
              </a:lnSpc>
            </a:pPr>
            <a:r>
              <a:rPr sz="750" b="0" i="0" spc="135">
                <a:solidFill>
                  <a:srgbClr val="9A958C"/>
                </a:solidFill>
                <a:latin typeface="Inter"/>
                <a:latin typeface="Inter"/>
                <a:ea typeface="Inter"/>
                <a:cs typeface="Inter"/>
              </a:rPr>
              <a:t>АЙРОН · КОВАНАЯ СТАЛЬ · АВТОГРАФ МАРКЕРОМ</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m024.jpg"/>
          <p:cNvPicPr>
            <a:picLocks noChangeAspect="1"/>
          </p:cNvPicPr>
          <p:nvPr/>
        </p:nvPicPr>
        <p:blipFill>
          <a:blip r:embed="rId2"/>
          <a:stretch>
            <a:fillRect/>
          </a:stretch>
        </p:blipFill>
        <p:spPr>
          <a:xfrm>
            <a:off x="1647825" y="771525"/>
            <a:ext cx="1428750" cy="1905000"/>
          </a:xfrm>
          <a:prstGeom prst="rect">
            <a:avLst/>
          </a:prstGeom>
        </p:spPr>
      </p:pic>
      <p:pic>
        <p:nvPicPr>
          <p:cNvPr id="4" name="Picture 3" descr="m025.jpg"/>
          <p:cNvPicPr>
            <a:picLocks noChangeAspect="1"/>
          </p:cNvPicPr>
          <p:nvPr/>
        </p:nvPicPr>
        <p:blipFill>
          <a:blip r:embed="rId3"/>
          <a:stretch>
            <a:fillRect/>
          </a:stretch>
        </p:blipFill>
        <p:spPr>
          <a:xfrm>
            <a:off x="4826099" y="771525"/>
            <a:ext cx="2539802" cy="1904851"/>
          </a:xfrm>
          <a:prstGeom prst="rect">
            <a:avLst/>
          </a:prstGeom>
        </p:spPr>
      </p:pic>
      <p:pic>
        <p:nvPicPr>
          <p:cNvPr id="5" name="Picture 4" descr="m026.jpg"/>
          <p:cNvPicPr>
            <a:picLocks noChangeAspect="1"/>
          </p:cNvPicPr>
          <p:nvPr/>
        </p:nvPicPr>
        <p:blipFill>
          <a:blip r:embed="rId4"/>
          <a:stretch>
            <a:fillRect/>
          </a:stretch>
        </p:blipFill>
        <p:spPr>
          <a:xfrm>
            <a:off x="9115425" y="771525"/>
            <a:ext cx="1428750" cy="1905000"/>
          </a:xfrm>
          <a:prstGeom prst="rect">
            <a:avLst/>
          </a:prstGeom>
        </p:spPr>
      </p:pic>
      <p:pic>
        <p:nvPicPr>
          <p:cNvPr id="6" name="Picture 5" descr="m027.jpg"/>
          <p:cNvPicPr>
            <a:picLocks noChangeAspect="1"/>
          </p:cNvPicPr>
          <p:nvPr/>
        </p:nvPicPr>
        <p:blipFill>
          <a:blip r:embed="rId5"/>
          <a:stretch>
            <a:fillRect/>
          </a:stretch>
        </p:blipFill>
        <p:spPr>
          <a:xfrm>
            <a:off x="1647825" y="3342382"/>
            <a:ext cx="1428750" cy="1905000"/>
          </a:xfrm>
          <a:prstGeom prst="rect">
            <a:avLst/>
          </a:prstGeom>
        </p:spPr>
      </p:pic>
      <p:pic>
        <p:nvPicPr>
          <p:cNvPr id="7" name="Picture 6" descr="m028.jpg"/>
          <p:cNvPicPr>
            <a:picLocks noChangeAspect="1"/>
          </p:cNvPicPr>
          <p:nvPr/>
        </p:nvPicPr>
        <p:blipFill>
          <a:blip r:embed="rId6"/>
          <a:stretch>
            <a:fillRect/>
          </a:stretch>
        </p:blipFill>
        <p:spPr>
          <a:xfrm>
            <a:off x="5381625" y="3342382"/>
            <a:ext cx="1428750" cy="1905000"/>
          </a:xfrm>
          <a:prstGeom prst="rect">
            <a:avLst/>
          </a:prstGeom>
        </p:spPr>
      </p:pic>
      <p:pic>
        <p:nvPicPr>
          <p:cNvPr id="8" name="Picture 7" descr="m029.jpg"/>
          <p:cNvPicPr>
            <a:picLocks noChangeAspect="1"/>
          </p:cNvPicPr>
          <p:nvPr/>
        </p:nvPicPr>
        <p:blipFill>
          <a:blip r:embed="rId7"/>
          <a:stretch>
            <a:fillRect/>
          </a:stretch>
        </p:blipFill>
        <p:spPr>
          <a:xfrm>
            <a:off x="9115425" y="3342382"/>
            <a:ext cx="1428750" cy="1905000"/>
          </a:xfrm>
          <a:prstGeom prst="rect">
            <a:avLst/>
          </a:prstGeom>
        </p:spPr>
      </p:pic>
      <p:sp>
        <p:nvSpPr>
          <p:cNvPr id="9" name="TextBox 8"/>
          <p:cNvSpPr txBox="1"/>
          <p:nvPr/>
        </p:nvSpPr>
        <p:spPr>
          <a:xfrm>
            <a:off x="533400" y="266700"/>
            <a:ext cx="2935486" cy="371475"/>
          </a:xfrm>
          <a:prstGeom prst="rect">
            <a:avLst/>
          </a:prstGeom>
          <a:noFill/>
        </p:spPr>
        <p:txBody>
          <a:bodyPr wrap="square" lIns="0" rIns="0" tIns="0" bIns="0" anchor="t">
            <a:noAutofit/>
          </a:bodyPr>
          <a:lstStyle/>
          <a:p>
            <a:pPr algn="l">
              <a:lnSpc>
                <a:spcPts val="2340"/>
              </a:lnSpc>
            </a:pPr>
            <a:r>
              <a:rPr sz="1950" b="0" i="0">
                <a:solidFill>
                  <a:srgbClr val="1A1A1A"/>
                </a:solidFill>
                <a:latin typeface="Cormorant Garamond"/>
                <a:latin typeface="Cormorant Garamond"/>
                <a:ea typeface="Cormorant Garamond"/>
                <a:cs typeface="Cormorant Garamond"/>
              </a:rPr>
              <a:t>Арнольд Палмер · ракурсы</a:t>
            </a:r>
          </a:p>
        </p:txBody>
      </p:sp>
      <p:sp>
        <p:nvSpPr>
          <p:cNvPr id="10" name="TextBox 9"/>
          <p:cNvSpPr txBox="1"/>
          <p:nvPr/>
        </p:nvSpPr>
        <p:spPr>
          <a:xfrm>
            <a:off x="10085636" y="390525"/>
            <a:ext cx="1725364" cy="209550"/>
          </a:xfrm>
          <a:prstGeom prst="rect">
            <a:avLst/>
          </a:prstGeom>
          <a:noFill/>
        </p:spPr>
        <p:txBody>
          <a:bodyPr wrap="square" lIns="0" rIns="0" tIns="0" bIns="0" anchor="t">
            <a:noAutofit/>
          </a:bodyPr>
          <a:lstStyle/>
          <a:p>
            <a:pPr algn="l">
              <a:lnSpc>
                <a:spcPts val="825"/>
              </a:lnSpc>
            </a:pPr>
            <a:r>
              <a:rPr sz="819" b="0" i="0" spc="297">
                <a:solidFill>
                  <a:srgbClr val="A98545"/>
                </a:solidFill>
                <a:latin typeface="Inter"/>
                <a:latin typeface="Inter"/>
                <a:ea typeface="Inter"/>
                <a:cs typeface="Inter"/>
              </a:rPr>
              <a:t>КЛЮШКИ · 6 ИЗ 6</a:t>
            </a:r>
          </a:p>
        </p:txBody>
      </p:sp>
      <p:sp>
        <p:nvSpPr>
          <p:cNvPr id="11" name="TextBox 10"/>
          <p:cNvSpPr txBox="1"/>
          <p:nvPr/>
        </p:nvSpPr>
        <p:spPr>
          <a:xfrm>
            <a:off x="-19050" y="5741938"/>
            <a:ext cx="8623250" cy="1173212"/>
          </a:xfrm>
          <a:prstGeom prst="rect">
            <a:avLst/>
          </a:prstGeom>
          <a:noFill/>
        </p:spPr>
        <p:txBody>
          <a:bodyPr wrap="square" lIns="0" rIns="0" tIns="0" bIns="0" anchor="t">
            <a:noAutofit/>
          </a:bodyPr>
          <a:lstStyle/>
          <a:p>
            <a:pPr algn="l">
              <a:lnSpc>
                <a:spcPts val="1680"/>
              </a:lnSpc>
            </a:pPr>
            <a:r>
              <a:rPr sz="1050" b="0" i="0">
                <a:solidFill>
                  <a:srgbClr val="4A4A4A"/>
                </a:solidFill>
                <a:latin typeface="Inter"/>
                <a:latin typeface="Inter"/>
                <a:ea typeface="Inter"/>
                <a:cs typeface="Inter"/>
              </a:rPr>
              <a:t>Клюшка снята со всех сторон: подошва, обух с маркировкой модели, шафт и рукоять. Это самый доступный предмет подборки и самый понятный в подарок — узнаваемое имя, компактный формат, живая подпись на металле.</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B0B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086600" y="2765078"/>
            <a:ext cx="666750" cy="9525"/>
          </a:xfrm>
          <a:prstGeom prst="rect">
            <a:avLst/>
          </a:prstGeom>
          <a:solidFill>
            <a:srgbClr val="624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030.jpg"/>
          <p:cNvPicPr>
            <a:picLocks noChangeAspect="1"/>
          </p:cNvPicPr>
          <p:nvPr/>
        </p:nvPicPr>
        <p:blipFill>
          <a:blip r:embed="rId2"/>
          <a:srcRect l="13496" r="13496"/>
          <a:stretch>
            <a:fillRect/>
          </a:stretch>
        </p:blipFill>
        <p:spPr>
          <a:xfrm>
            <a:off x="0" y="0"/>
            <a:ext cx="6705600" cy="6858000"/>
          </a:xfrm>
          <a:prstGeom prst="rect">
            <a:avLst/>
          </a:prstGeom>
        </p:spPr>
      </p:pic>
      <p:sp>
        <p:nvSpPr>
          <p:cNvPr id="5" name="TextBox 4"/>
          <p:cNvSpPr txBox="1"/>
          <p:nvPr/>
        </p:nvSpPr>
        <p:spPr>
          <a:xfrm>
            <a:off x="7048500" y="1790551"/>
            <a:ext cx="1378446" cy="209550"/>
          </a:xfrm>
          <a:prstGeom prst="rect">
            <a:avLst/>
          </a:prstGeom>
          <a:noFill/>
        </p:spPr>
        <p:txBody>
          <a:bodyPr wrap="square" lIns="0" rIns="0" tIns="0" bIns="0" anchor="t">
            <a:noAutofit/>
          </a:bodyPr>
          <a:lstStyle/>
          <a:p>
            <a:pPr algn="l">
              <a:lnSpc>
                <a:spcPts val="825"/>
              </a:lnSpc>
            </a:pPr>
            <a:r>
              <a:rPr sz="819" b="0" i="0" spc="297">
                <a:solidFill>
                  <a:srgbClr val="C9A96A"/>
                </a:solidFill>
                <a:latin typeface="Inter"/>
                <a:latin typeface="Inter"/>
                <a:ea typeface="Inter"/>
                <a:cs typeface="Inter"/>
              </a:rPr>
              <a:t>ОФОРМЛЕНИЕ</a:t>
            </a:r>
          </a:p>
        </p:txBody>
      </p:sp>
      <p:sp>
        <p:nvSpPr>
          <p:cNvPr id="6" name="TextBox 5"/>
          <p:cNvSpPr txBox="1"/>
          <p:nvPr/>
        </p:nvSpPr>
        <p:spPr>
          <a:xfrm>
            <a:off x="7048500" y="2085826"/>
            <a:ext cx="3653879" cy="514350"/>
          </a:xfrm>
          <a:prstGeom prst="rect">
            <a:avLst/>
          </a:prstGeom>
          <a:noFill/>
        </p:spPr>
        <p:txBody>
          <a:bodyPr wrap="square" lIns="0" rIns="0" tIns="0" bIns="0" anchor="t">
            <a:noAutofit/>
          </a:bodyPr>
          <a:lstStyle/>
          <a:p>
            <a:pPr algn="l">
              <a:lnSpc>
                <a:spcPts val="3249"/>
              </a:lnSpc>
            </a:pPr>
            <a:r>
              <a:rPr sz="2850" b="0" i="0">
                <a:solidFill>
                  <a:srgbClr val="F5F1E8"/>
                </a:solidFill>
                <a:latin typeface="Cormorant Garamond"/>
                <a:latin typeface="Cormorant Garamond"/>
                <a:ea typeface="Cormorant Garamond"/>
                <a:cs typeface="Cormorant Garamond"/>
              </a:rPr>
              <a:t>Зелёная замша и латунь</a:t>
            </a:r>
          </a:p>
        </p:txBody>
      </p:sp>
      <p:sp>
        <p:nvSpPr>
          <p:cNvPr id="7" name="TextBox 6"/>
          <p:cNvSpPr txBox="1"/>
          <p:nvPr/>
        </p:nvSpPr>
        <p:spPr>
          <a:xfrm>
            <a:off x="7067550" y="2984153"/>
            <a:ext cx="3410545" cy="1515666"/>
          </a:xfrm>
          <a:prstGeom prst="rect">
            <a:avLst/>
          </a:prstGeom>
          <a:noFill/>
        </p:spPr>
        <p:txBody>
          <a:bodyPr wrap="square" lIns="0" rIns="0" tIns="0" bIns="0" anchor="t">
            <a:noAutofit/>
          </a:bodyPr>
          <a:lstStyle/>
          <a:p>
            <a:pPr algn="l">
              <a:lnSpc>
                <a:spcPts val="1889"/>
              </a:lnSpc>
            </a:pPr>
            <a:r>
              <a:rPr sz="1120" b="0" i="0">
                <a:solidFill>
                  <a:srgbClr val="B8B2A6"/>
                </a:solidFill>
                <a:latin typeface="Inter"/>
                <a:latin typeface="Inter"/>
                <a:ea typeface="Inter"/>
                <a:cs typeface="Inter"/>
              </a:rPr>
              <a:t>Для гольфа дом берёт зелёное замшевое поле — цвет Огасты и пиджака победителя. Флаг растягивается под стеклом на паспарту, тонкая золотая линия по периметру, латунная табличка внизу. Жёлтое полотно на зелёном узнают без единой подписи.</a:t>
            </a:r>
          </a:p>
        </p:txBody>
      </p:sp>
      <p:sp>
        <p:nvSpPr>
          <p:cNvPr id="8" name="TextBox 7"/>
          <p:cNvSpPr txBox="1"/>
          <p:nvPr/>
        </p:nvSpPr>
        <p:spPr>
          <a:xfrm>
            <a:off x="7067550" y="4614118"/>
            <a:ext cx="2963466" cy="472380"/>
          </a:xfrm>
          <a:prstGeom prst="rect">
            <a:avLst/>
          </a:prstGeom>
          <a:noFill/>
        </p:spPr>
        <p:txBody>
          <a:bodyPr wrap="square" lIns="0" rIns="0" tIns="0" bIns="0" anchor="t">
            <a:noAutofit/>
          </a:bodyPr>
          <a:lstStyle/>
          <a:p>
            <a:pPr algn="l">
              <a:lnSpc>
                <a:spcPts val="1560"/>
              </a:lnSpc>
            </a:pPr>
            <a:r>
              <a:rPr sz="980" b="0" i="0">
                <a:solidFill>
                  <a:srgbClr val="8E887C"/>
                </a:solidFill>
                <a:latin typeface="Inter"/>
                <a:latin typeface="Inter"/>
                <a:ea typeface="Inter"/>
                <a:cs typeface="Inter"/>
              </a:rPr>
              <a:t>Размеры и оттенок замши согласовываем под конкретную стену.</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m031.jpg"/>
          <p:cNvPicPr>
            <a:picLocks noChangeAspect="1"/>
          </p:cNvPicPr>
          <p:nvPr/>
        </p:nvPicPr>
        <p:blipFill>
          <a:blip r:embed="rId2"/>
          <a:stretch>
            <a:fillRect/>
          </a:stretch>
        </p:blipFill>
        <p:spPr>
          <a:xfrm>
            <a:off x="682764" y="1317427"/>
            <a:ext cx="5412402" cy="4095601"/>
          </a:xfrm>
          <a:prstGeom prst="rect">
            <a:avLst/>
          </a:prstGeom>
        </p:spPr>
      </p:pic>
      <p:pic>
        <p:nvPicPr>
          <p:cNvPr id="4" name="Picture 3" descr="m032.jpg"/>
          <p:cNvPicPr>
            <a:picLocks noChangeAspect="1"/>
          </p:cNvPicPr>
          <p:nvPr/>
        </p:nvPicPr>
        <p:blipFill>
          <a:blip r:embed="rId3"/>
          <a:stretch>
            <a:fillRect/>
          </a:stretch>
        </p:blipFill>
        <p:spPr>
          <a:xfrm>
            <a:off x="6568410" y="1433512"/>
            <a:ext cx="4994762" cy="3863429"/>
          </a:xfrm>
          <a:prstGeom prst="rect">
            <a:avLst/>
          </a:prstGeom>
        </p:spPr>
      </p:pic>
      <p:sp>
        <p:nvSpPr>
          <p:cNvPr id="5" name="TextBox 4"/>
          <p:cNvSpPr txBox="1"/>
          <p:nvPr/>
        </p:nvSpPr>
        <p:spPr>
          <a:xfrm>
            <a:off x="590550" y="266700"/>
            <a:ext cx="2679204" cy="390525"/>
          </a:xfrm>
          <a:prstGeom prst="rect">
            <a:avLst/>
          </a:prstGeom>
          <a:noFill/>
        </p:spPr>
        <p:txBody>
          <a:bodyPr wrap="square" lIns="0" rIns="0" tIns="0" bIns="0" anchor="t">
            <a:noAutofit/>
          </a:bodyPr>
          <a:lstStyle/>
          <a:p>
            <a:pPr algn="l">
              <a:lnSpc>
                <a:spcPts val="2430"/>
              </a:lnSpc>
            </a:pPr>
            <a:r>
              <a:rPr sz="2020" b="0" i="0">
                <a:solidFill>
                  <a:srgbClr val="1A1A1A"/>
                </a:solidFill>
                <a:latin typeface="Cormorant Garamond"/>
                <a:latin typeface="Cormorant Garamond"/>
                <a:ea typeface="Cormorant Garamond"/>
                <a:cs typeface="Cormorant Garamond"/>
              </a:rPr>
              <a:t>Как мы отдаём подарок</a:t>
            </a:r>
          </a:p>
        </p:txBody>
      </p:sp>
      <p:sp>
        <p:nvSpPr>
          <p:cNvPr id="6" name="TextBox 5"/>
          <p:cNvSpPr txBox="1"/>
          <p:nvPr/>
        </p:nvSpPr>
        <p:spPr>
          <a:xfrm>
            <a:off x="10051256" y="400050"/>
            <a:ext cx="1702594" cy="209550"/>
          </a:xfrm>
          <a:prstGeom prst="rect">
            <a:avLst/>
          </a:prstGeom>
          <a:noFill/>
        </p:spPr>
        <p:txBody>
          <a:bodyPr wrap="square" lIns="0" rIns="0" tIns="0" bIns="0" anchor="t">
            <a:noAutofit/>
          </a:bodyPr>
          <a:lstStyle/>
          <a:p>
            <a:pPr algn="l">
              <a:lnSpc>
                <a:spcPts val="825"/>
              </a:lnSpc>
            </a:pPr>
            <a:r>
              <a:rPr sz="819" b="0" i="0" spc="165">
                <a:solidFill>
                  <a:srgbClr val="A98545"/>
                </a:solidFill>
                <a:latin typeface="Inter"/>
                <a:latin typeface="Inter"/>
                <a:ea typeface="Inter"/>
                <a:cs typeface="Inter"/>
              </a:rPr>
              <a:t>УПАКОВКА STARGIFT</a:t>
            </a:r>
          </a:p>
        </p:txBody>
      </p:sp>
      <p:sp>
        <p:nvSpPr>
          <p:cNvPr id="7" name="TextBox 6"/>
          <p:cNvSpPr txBox="1"/>
          <p:nvPr/>
        </p:nvSpPr>
        <p:spPr>
          <a:xfrm>
            <a:off x="-19050" y="5940028"/>
            <a:ext cx="8929241" cy="975122"/>
          </a:xfrm>
          <a:prstGeom prst="rect">
            <a:avLst/>
          </a:prstGeom>
          <a:noFill/>
        </p:spPr>
        <p:txBody>
          <a:bodyPr wrap="square" lIns="0" rIns="0" tIns="0" bIns="0" anchor="t">
            <a:noAutofit/>
          </a:bodyPr>
          <a:lstStyle/>
          <a:p>
            <a:pPr algn="l">
              <a:lnSpc>
                <a:spcPts val="1739"/>
              </a:lnSpc>
            </a:pPr>
            <a:r>
              <a:rPr sz="1090" b="0" i="0">
                <a:solidFill>
                  <a:srgbClr val="4A4A4A"/>
                </a:solidFill>
                <a:latin typeface="Inter"/>
                <a:latin typeface="Inter"/>
                <a:ea typeface="Inter"/>
                <a:cs typeface="Inter"/>
              </a:rPr>
              <a:t>Каждый предмет уходит в фирменной упаковке дома: крафт-бумага с автографами великих, лента Stargift и плотный подарочный пакет. Оформленную работу привозим и вешаем сами.</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B0B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600" y="1657350"/>
            <a:ext cx="10972800" cy="9525"/>
          </a:xfrm>
          <a:prstGeom prst="rect">
            <a:avLst/>
          </a:prstGeom>
          <a:solidFill>
            <a:srgbClr val="2B2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600" y="2623096"/>
            <a:ext cx="10972800" cy="9525"/>
          </a:xfrm>
          <a:prstGeom prst="rect">
            <a:avLst/>
          </a:prstGeom>
          <a:solidFill>
            <a:srgbClr val="2B2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600" y="3588841"/>
            <a:ext cx="10972800" cy="9525"/>
          </a:xfrm>
          <a:prstGeom prst="rect">
            <a:avLst/>
          </a:prstGeom>
          <a:solidFill>
            <a:srgbClr val="2B2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4554587"/>
            <a:ext cx="10972800" cy="9525"/>
          </a:xfrm>
          <a:prstGeom prst="rect">
            <a:avLst/>
          </a:prstGeom>
          <a:solidFill>
            <a:srgbClr val="2B2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09600" y="5520333"/>
            <a:ext cx="10972800" cy="9525"/>
          </a:xfrm>
          <a:prstGeom prst="rect">
            <a:avLst/>
          </a:prstGeom>
          <a:solidFill>
            <a:srgbClr val="2B2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09600" y="6486079"/>
            <a:ext cx="10972800" cy="9525"/>
          </a:xfrm>
          <a:prstGeom prst="rect">
            <a:avLst/>
          </a:prstGeom>
          <a:solidFill>
            <a:srgbClr val="2B2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1500" y="361950"/>
            <a:ext cx="2009775" cy="209550"/>
          </a:xfrm>
          <a:prstGeom prst="rect">
            <a:avLst/>
          </a:prstGeom>
          <a:noFill/>
        </p:spPr>
        <p:txBody>
          <a:bodyPr wrap="square" lIns="0" rIns="0" tIns="0" bIns="0" anchor="t">
            <a:noAutofit/>
          </a:bodyPr>
          <a:lstStyle/>
          <a:p>
            <a:pPr algn="l">
              <a:lnSpc>
                <a:spcPts val="825"/>
              </a:lnSpc>
            </a:pPr>
            <a:r>
              <a:rPr sz="819" b="0" i="0" spc="297">
                <a:solidFill>
                  <a:srgbClr val="C9A96A"/>
                </a:solidFill>
                <a:latin typeface="Inter"/>
                <a:latin typeface="Inter"/>
                <a:ea typeface="Inter"/>
                <a:cs typeface="Inter"/>
              </a:rPr>
              <a:t>ПОДБОРКА ЦЕЛИКОМ</a:t>
            </a:r>
          </a:p>
        </p:txBody>
      </p:sp>
      <p:sp>
        <p:nvSpPr>
          <p:cNvPr id="10" name="TextBox 9"/>
          <p:cNvSpPr txBox="1"/>
          <p:nvPr/>
        </p:nvSpPr>
        <p:spPr>
          <a:xfrm>
            <a:off x="571500" y="552450"/>
            <a:ext cx="2186583" cy="561975"/>
          </a:xfrm>
          <a:prstGeom prst="rect">
            <a:avLst/>
          </a:prstGeom>
          <a:noFill/>
        </p:spPr>
        <p:txBody>
          <a:bodyPr wrap="square" lIns="0" rIns="0" tIns="0" bIns="0" anchor="t">
            <a:noAutofit/>
          </a:bodyPr>
          <a:lstStyle/>
          <a:p>
            <a:pPr algn="l">
              <a:lnSpc>
                <a:spcPts val="3150"/>
              </a:lnSpc>
            </a:pPr>
            <a:r>
              <a:rPr sz="3150" b="0" i="0">
                <a:solidFill>
                  <a:srgbClr val="F5F1E8"/>
                </a:solidFill>
                <a:latin typeface="Cormorant Garamond"/>
                <a:latin typeface="Cormorant Garamond"/>
                <a:ea typeface="Cormorant Garamond"/>
                <a:cs typeface="Cormorant Garamond"/>
              </a:rPr>
              <a:t>6 предметов</a:t>
            </a:r>
          </a:p>
        </p:txBody>
      </p:sp>
      <p:sp>
        <p:nvSpPr>
          <p:cNvPr id="11" name="TextBox 10"/>
          <p:cNvSpPr txBox="1"/>
          <p:nvPr/>
        </p:nvSpPr>
        <p:spPr>
          <a:xfrm>
            <a:off x="571500" y="1343025"/>
            <a:ext cx="6058942" cy="238125"/>
          </a:xfrm>
          <a:prstGeom prst="rect">
            <a:avLst/>
          </a:prstGeom>
          <a:noFill/>
        </p:spPr>
        <p:txBody>
          <a:bodyPr wrap="square" lIns="0" rIns="0" tIns="0" bIns="0" anchor="t">
            <a:noAutofit/>
          </a:bodyPr>
          <a:lstStyle/>
          <a:p>
            <a:pPr algn="l">
              <a:lnSpc>
                <a:spcPts val="1523"/>
              </a:lnSpc>
            </a:pPr>
            <a:r>
              <a:rPr sz="1090" b="0" i="0">
                <a:solidFill>
                  <a:srgbClr val="D5CFC3"/>
                </a:solidFill>
                <a:latin typeface="Inter"/>
                <a:latin typeface="Inter"/>
                <a:ea typeface="Inter"/>
                <a:cs typeface="Inter"/>
              </a:rPr>
              <a:t>Бобби Джонс — драйвер Jack White из его личных клюшек и подписанная фотография</a:t>
            </a:r>
          </a:p>
        </p:txBody>
      </p:sp>
      <p:sp>
        <p:nvSpPr>
          <p:cNvPr id="12" name="TextBox 11"/>
          <p:cNvSpPr txBox="1"/>
          <p:nvPr/>
        </p:nvSpPr>
        <p:spPr>
          <a:xfrm>
            <a:off x="10685859" y="1295400"/>
            <a:ext cx="1087041" cy="314325"/>
          </a:xfrm>
          <a:prstGeom prst="rect">
            <a:avLst/>
          </a:prstGeom>
          <a:noFill/>
        </p:spPr>
        <p:txBody>
          <a:bodyPr wrap="square" lIns="0" rIns="0" tIns="0" bIns="0" anchor="t">
            <a:noAutofit/>
          </a:bodyPr>
          <a:lstStyle/>
          <a:p>
            <a:pPr algn="l">
              <a:lnSpc>
                <a:spcPts val="1889"/>
              </a:lnSpc>
            </a:pPr>
            <a:r>
              <a:rPr sz="1580" b="0" i="0">
                <a:solidFill>
                  <a:srgbClr val="C9A96A"/>
                </a:solidFill>
                <a:latin typeface="Cormorant Garamond"/>
                <a:latin typeface="Cormorant Garamond"/>
                <a:ea typeface="Cormorant Garamond"/>
                <a:cs typeface="Cormorant Garamond"/>
              </a:rPr>
              <a:t>1 050 000 ₽</a:t>
            </a:r>
          </a:p>
        </p:txBody>
      </p:sp>
      <p:sp>
        <p:nvSpPr>
          <p:cNvPr id="13" name="TextBox 12"/>
          <p:cNvSpPr txBox="1"/>
          <p:nvPr/>
        </p:nvSpPr>
        <p:spPr>
          <a:xfrm>
            <a:off x="571500" y="2308771"/>
            <a:ext cx="5154811" cy="238125"/>
          </a:xfrm>
          <a:prstGeom prst="rect">
            <a:avLst/>
          </a:prstGeom>
          <a:noFill/>
        </p:spPr>
        <p:txBody>
          <a:bodyPr wrap="square" lIns="0" rIns="0" tIns="0" bIns="0" anchor="t">
            <a:noAutofit/>
          </a:bodyPr>
          <a:lstStyle/>
          <a:p>
            <a:pPr algn="l">
              <a:lnSpc>
                <a:spcPts val="1523"/>
              </a:lnSpc>
            </a:pPr>
            <a:r>
              <a:rPr sz="1090" b="0" i="0">
                <a:solidFill>
                  <a:srgbClr val="D5CFC3"/>
                </a:solidFill>
                <a:latin typeface="Inter"/>
                <a:latin typeface="Inter"/>
                <a:ea typeface="Inter"/>
                <a:cs typeface="Inter"/>
              </a:rPr>
              <a:t>Флаг Мастерса 2022 года с автографами пятнадцати чемпионов турнира</a:t>
            </a:r>
          </a:p>
        </p:txBody>
      </p:sp>
      <p:sp>
        <p:nvSpPr>
          <p:cNvPr id="14" name="TextBox 13"/>
          <p:cNvSpPr txBox="1"/>
          <p:nvPr/>
        </p:nvSpPr>
        <p:spPr>
          <a:xfrm>
            <a:off x="10787955" y="2261146"/>
            <a:ext cx="984945" cy="314325"/>
          </a:xfrm>
          <a:prstGeom prst="rect">
            <a:avLst/>
          </a:prstGeom>
          <a:noFill/>
        </p:spPr>
        <p:txBody>
          <a:bodyPr wrap="square" lIns="0" rIns="0" tIns="0" bIns="0" anchor="t">
            <a:noAutofit/>
          </a:bodyPr>
          <a:lstStyle/>
          <a:p>
            <a:pPr algn="l">
              <a:lnSpc>
                <a:spcPts val="1889"/>
              </a:lnSpc>
            </a:pPr>
            <a:r>
              <a:rPr sz="1580" b="0" i="0">
                <a:solidFill>
                  <a:srgbClr val="C9A96A"/>
                </a:solidFill>
                <a:latin typeface="Cormorant Garamond"/>
                <a:latin typeface="Cormorant Garamond"/>
                <a:ea typeface="Cormorant Garamond"/>
                <a:cs typeface="Cormorant Garamond"/>
              </a:rPr>
              <a:t>900 000 ₽</a:t>
            </a:r>
          </a:p>
        </p:txBody>
      </p:sp>
      <p:sp>
        <p:nvSpPr>
          <p:cNvPr id="15" name="TextBox 14"/>
          <p:cNvSpPr txBox="1"/>
          <p:nvPr/>
        </p:nvSpPr>
        <p:spPr>
          <a:xfrm>
            <a:off x="571500" y="3274516"/>
            <a:ext cx="5130850" cy="238125"/>
          </a:xfrm>
          <a:prstGeom prst="rect">
            <a:avLst/>
          </a:prstGeom>
          <a:noFill/>
        </p:spPr>
        <p:txBody>
          <a:bodyPr wrap="square" lIns="0" rIns="0" tIns="0" bIns="0" anchor="t">
            <a:noAutofit/>
          </a:bodyPr>
          <a:lstStyle/>
          <a:p>
            <a:pPr algn="l">
              <a:lnSpc>
                <a:spcPts val="1523"/>
              </a:lnSpc>
            </a:pPr>
            <a:r>
              <a:rPr sz="1090" b="0" i="0">
                <a:solidFill>
                  <a:srgbClr val="D5CFC3"/>
                </a:solidFill>
                <a:latin typeface="Inter"/>
                <a:latin typeface="Inter"/>
                <a:ea typeface="Inter"/>
                <a:cs typeface="Inter"/>
              </a:rPr>
              <a:t>Флаг Мастерса 2016 года с автографами тринадцати чемпионов турнира</a:t>
            </a:r>
          </a:p>
        </p:txBody>
      </p:sp>
      <p:sp>
        <p:nvSpPr>
          <p:cNvPr id="16" name="TextBox 15"/>
          <p:cNvSpPr txBox="1"/>
          <p:nvPr/>
        </p:nvSpPr>
        <p:spPr>
          <a:xfrm>
            <a:off x="10787955" y="3226891"/>
            <a:ext cx="984945" cy="314325"/>
          </a:xfrm>
          <a:prstGeom prst="rect">
            <a:avLst/>
          </a:prstGeom>
          <a:noFill/>
        </p:spPr>
        <p:txBody>
          <a:bodyPr wrap="square" lIns="0" rIns="0" tIns="0" bIns="0" anchor="t">
            <a:noAutofit/>
          </a:bodyPr>
          <a:lstStyle/>
          <a:p>
            <a:pPr algn="l">
              <a:lnSpc>
                <a:spcPts val="1889"/>
              </a:lnSpc>
            </a:pPr>
            <a:r>
              <a:rPr sz="1580" b="0" i="0">
                <a:solidFill>
                  <a:srgbClr val="C9A96A"/>
                </a:solidFill>
                <a:latin typeface="Cormorant Garamond"/>
                <a:latin typeface="Cormorant Garamond"/>
                <a:ea typeface="Cormorant Garamond"/>
                <a:cs typeface="Cormorant Garamond"/>
              </a:rPr>
              <a:t>900 000 ₽</a:t>
            </a:r>
          </a:p>
        </p:txBody>
      </p:sp>
      <p:sp>
        <p:nvSpPr>
          <p:cNvPr id="17" name="TextBox 16"/>
          <p:cNvSpPr txBox="1"/>
          <p:nvPr/>
        </p:nvSpPr>
        <p:spPr>
          <a:xfrm>
            <a:off x="571500" y="4240262"/>
            <a:ext cx="5144393" cy="238125"/>
          </a:xfrm>
          <a:prstGeom prst="rect">
            <a:avLst/>
          </a:prstGeom>
          <a:noFill/>
        </p:spPr>
        <p:txBody>
          <a:bodyPr wrap="square" lIns="0" rIns="0" tIns="0" bIns="0" anchor="t">
            <a:noAutofit/>
          </a:bodyPr>
          <a:lstStyle/>
          <a:p>
            <a:pPr algn="l">
              <a:lnSpc>
                <a:spcPts val="1523"/>
              </a:lnSpc>
            </a:pPr>
            <a:r>
              <a:rPr sz="1090" b="0" i="0">
                <a:solidFill>
                  <a:srgbClr val="D5CFC3"/>
                </a:solidFill>
                <a:latin typeface="Inter"/>
                <a:latin typeface="Inter"/>
                <a:ea typeface="Inter"/>
                <a:cs typeface="Inter"/>
              </a:rPr>
              <a:t>Флаг Мастерса 2016 года с автографами двенадцати чемпионов турнира</a:t>
            </a:r>
          </a:p>
        </p:txBody>
      </p:sp>
      <p:sp>
        <p:nvSpPr>
          <p:cNvPr id="18" name="TextBox 17"/>
          <p:cNvSpPr txBox="1"/>
          <p:nvPr/>
        </p:nvSpPr>
        <p:spPr>
          <a:xfrm>
            <a:off x="10787955" y="4192637"/>
            <a:ext cx="984945" cy="314325"/>
          </a:xfrm>
          <a:prstGeom prst="rect">
            <a:avLst/>
          </a:prstGeom>
          <a:noFill/>
        </p:spPr>
        <p:txBody>
          <a:bodyPr wrap="square" lIns="0" rIns="0" tIns="0" bIns="0" anchor="t">
            <a:noAutofit/>
          </a:bodyPr>
          <a:lstStyle/>
          <a:p>
            <a:pPr algn="l">
              <a:lnSpc>
                <a:spcPts val="1889"/>
              </a:lnSpc>
            </a:pPr>
            <a:r>
              <a:rPr sz="1580" b="0" i="0">
                <a:solidFill>
                  <a:srgbClr val="C9A96A"/>
                </a:solidFill>
                <a:latin typeface="Cormorant Garamond"/>
                <a:latin typeface="Cormorant Garamond"/>
                <a:ea typeface="Cormorant Garamond"/>
                <a:cs typeface="Cormorant Garamond"/>
              </a:rPr>
              <a:t>900 000 ₽</a:t>
            </a:r>
          </a:p>
        </p:txBody>
      </p:sp>
      <p:sp>
        <p:nvSpPr>
          <p:cNvPr id="19" name="TextBox 18"/>
          <p:cNvSpPr txBox="1"/>
          <p:nvPr/>
        </p:nvSpPr>
        <p:spPr>
          <a:xfrm>
            <a:off x="571500" y="5206008"/>
            <a:ext cx="5457230" cy="238125"/>
          </a:xfrm>
          <a:prstGeom prst="rect">
            <a:avLst/>
          </a:prstGeom>
          <a:noFill/>
        </p:spPr>
        <p:txBody>
          <a:bodyPr wrap="square" lIns="0" rIns="0" tIns="0" bIns="0" anchor="t">
            <a:noAutofit/>
          </a:bodyPr>
          <a:lstStyle/>
          <a:p>
            <a:pPr algn="l">
              <a:lnSpc>
                <a:spcPts val="1523"/>
              </a:lnSpc>
            </a:pPr>
            <a:r>
              <a:rPr sz="1090" b="0" i="0">
                <a:solidFill>
                  <a:srgbClr val="D5CFC3"/>
                </a:solidFill>
                <a:latin typeface="Inter"/>
                <a:latin typeface="Inter"/>
                <a:ea typeface="Inter"/>
                <a:cs typeface="Inter"/>
              </a:rPr>
              <a:t>Генри Пикард — комплект персональных айронов и подписанная фотография</a:t>
            </a:r>
          </a:p>
        </p:txBody>
      </p:sp>
      <p:sp>
        <p:nvSpPr>
          <p:cNvPr id="20" name="TextBox 19"/>
          <p:cNvSpPr txBox="1"/>
          <p:nvPr/>
        </p:nvSpPr>
        <p:spPr>
          <a:xfrm>
            <a:off x="10783193" y="5158383"/>
            <a:ext cx="989707" cy="314325"/>
          </a:xfrm>
          <a:prstGeom prst="rect">
            <a:avLst/>
          </a:prstGeom>
          <a:noFill/>
        </p:spPr>
        <p:txBody>
          <a:bodyPr wrap="square" lIns="0" rIns="0" tIns="0" bIns="0" anchor="t">
            <a:noAutofit/>
          </a:bodyPr>
          <a:lstStyle/>
          <a:p>
            <a:pPr algn="l">
              <a:lnSpc>
                <a:spcPts val="1889"/>
              </a:lnSpc>
            </a:pPr>
            <a:r>
              <a:rPr sz="1580" b="0" i="0">
                <a:solidFill>
                  <a:srgbClr val="C9A96A"/>
                </a:solidFill>
                <a:latin typeface="Cormorant Garamond"/>
                <a:latin typeface="Cormorant Garamond"/>
                <a:ea typeface="Cormorant Garamond"/>
                <a:cs typeface="Cormorant Garamond"/>
              </a:rPr>
              <a:t>800 000 ₽</a:t>
            </a:r>
          </a:p>
        </p:txBody>
      </p:sp>
      <p:sp>
        <p:nvSpPr>
          <p:cNvPr id="21" name="TextBox 20"/>
          <p:cNvSpPr txBox="1"/>
          <p:nvPr/>
        </p:nvSpPr>
        <p:spPr>
          <a:xfrm>
            <a:off x="571500" y="6171754"/>
            <a:ext cx="4420046" cy="238125"/>
          </a:xfrm>
          <a:prstGeom prst="rect">
            <a:avLst/>
          </a:prstGeom>
          <a:noFill/>
        </p:spPr>
        <p:txBody>
          <a:bodyPr wrap="square" lIns="0" rIns="0" tIns="0" bIns="0" anchor="t">
            <a:noAutofit/>
          </a:bodyPr>
          <a:lstStyle/>
          <a:p>
            <a:pPr algn="l">
              <a:lnSpc>
                <a:spcPts val="1523"/>
              </a:lnSpc>
            </a:pPr>
            <a:r>
              <a:rPr sz="1090" b="0" i="0">
                <a:solidFill>
                  <a:srgbClr val="D5CFC3"/>
                </a:solidFill>
                <a:latin typeface="Inter"/>
                <a:latin typeface="Inter"/>
                <a:ea typeface="Inter"/>
                <a:cs typeface="Inter"/>
              </a:rPr>
              <a:t>Арнольд Палмер — айрон The Standard forged 2 с автографом</a:t>
            </a:r>
          </a:p>
        </p:txBody>
      </p:sp>
      <p:sp>
        <p:nvSpPr>
          <p:cNvPr id="22" name="TextBox 21"/>
          <p:cNvSpPr txBox="1"/>
          <p:nvPr/>
        </p:nvSpPr>
        <p:spPr>
          <a:xfrm>
            <a:off x="10790337" y="6124129"/>
            <a:ext cx="982563" cy="314325"/>
          </a:xfrm>
          <a:prstGeom prst="rect">
            <a:avLst/>
          </a:prstGeom>
          <a:noFill/>
        </p:spPr>
        <p:txBody>
          <a:bodyPr wrap="square" lIns="0" rIns="0" tIns="0" bIns="0" anchor="t">
            <a:noAutofit/>
          </a:bodyPr>
          <a:lstStyle/>
          <a:p>
            <a:pPr algn="l">
              <a:lnSpc>
                <a:spcPts val="1889"/>
              </a:lnSpc>
            </a:pPr>
            <a:r>
              <a:rPr sz="1580" b="0" i="0">
                <a:solidFill>
                  <a:srgbClr val="C9A96A"/>
                </a:solidFill>
                <a:latin typeface="Cormorant Garamond"/>
                <a:latin typeface="Cormorant Garamond"/>
                <a:ea typeface="Cormorant Garamond"/>
                <a:cs typeface="Cormorant Garamond"/>
              </a:rPr>
              <a:t>400 000 ₽</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B0B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153150"/>
            <a:ext cx="12192000" cy="9525"/>
          </a:xfrm>
          <a:prstGeom prst="rect">
            <a:avLst/>
          </a:prstGeom>
          <a:solidFill>
            <a:srgbClr val="3A3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033.png"/>
          <p:cNvPicPr>
            <a:picLocks noChangeAspect="1"/>
          </p:cNvPicPr>
          <p:nvPr/>
        </p:nvPicPr>
        <p:blipFill>
          <a:blip r:embed="rId2"/>
          <a:stretch>
            <a:fillRect/>
          </a:stretch>
        </p:blipFill>
        <p:spPr>
          <a:xfrm>
            <a:off x="628650" y="2113106"/>
            <a:ext cx="1755130" cy="1333411"/>
          </a:xfrm>
          <a:prstGeom prst="rect">
            <a:avLst/>
          </a:prstGeom>
        </p:spPr>
      </p:pic>
      <p:sp>
        <p:nvSpPr>
          <p:cNvPr id="5" name="TextBox 4"/>
          <p:cNvSpPr txBox="1"/>
          <p:nvPr/>
        </p:nvSpPr>
        <p:spPr>
          <a:xfrm>
            <a:off x="609600" y="3770412"/>
            <a:ext cx="6054328" cy="1031677"/>
          </a:xfrm>
          <a:prstGeom prst="rect">
            <a:avLst/>
          </a:prstGeom>
          <a:noFill/>
        </p:spPr>
        <p:txBody>
          <a:bodyPr wrap="square" lIns="0" rIns="0" tIns="0" bIns="0" anchor="t">
            <a:noAutofit/>
          </a:bodyPr>
          <a:lstStyle/>
          <a:p>
            <a:pPr algn="l">
              <a:lnSpc>
                <a:spcPts val="3761"/>
              </a:lnSpc>
            </a:pPr>
            <a:r>
              <a:rPr sz="3300" b="0" i="0">
                <a:solidFill>
                  <a:srgbClr val="F5F1E8"/>
                </a:solidFill>
                <a:latin typeface="Cormorant Garamond"/>
                <a:latin typeface="Cormorant Garamond"/>
                <a:ea typeface="Cormorant Garamond"/>
                <a:cs typeface="Cormorant Garamond"/>
              </a:rPr>
              <a:t>Гольф. Три клюшки, три флага, сто лет игры.</a:t>
            </a:r>
          </a:p>
        </p:txBody>
      </p:sp>
      <p:sp>
        <p:nvSpPr>
          <p:cNvPr id="6" name="TextBox 5"/>
          <p:cNvSpPr txBox="1"/>
          <p:nvPr/>
        </p:nvSpPr>
        <p:spPr>
          <a:xfrm>
            <a:off x="590550" y="6353175"/>
            <a:ext cx="1184672" cy="209550"/>
          </a:xfrm>
          <a:prstGeom prst="rect">
            <a:avLst/>
          </a:prstGeom>
          <a:noFill/>
        </p:spPr>
        <p:txBody>
          <a:bodyPr wrap="square" lIns="0" rIns="0" tIns="0" bIns="0" anchor="t">
            <a:noAutofit/>
          </a:bodyPr>
          <a:lstStyle/>
          <a:p>
            <a:pPr algn="l">
              <a:lnSpc>
                <a:spcPts val="1440"/>
              </a:lnSpc>
            </a:pPr>
            <a:r>
              <a:rPr sz="819" b="0" i="0" spc="198">
                <a:solidFill>
                  <a:srgbClr val="C9A96A"/>
                </a:solidFill>
                <a:latin typeface="Inter"/>
                <a:latin typeface="Inter"/>
                <a:ea typeface="Inter"/>
                <a:cs typeface="Inter"/>
              </a:rPr>
              <a:t>STARGIFT.RU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